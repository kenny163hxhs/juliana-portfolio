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Bangers" charset="1" panose="000005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7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7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26.png" Type="http://schemas.openxmlformats.org/officeDocument/2006/relationships/image"/><Relationship Id="rId12" Target="../embeddings/oleObject2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15" Target="../media/image12.png" Type="http://schemas.openxmlformats.org/officeDocument/2006/relationships/image"/><Relationship Id="rId16" Target="../media/image13.svg" Type="http://schemas.openxmlformats.org/officeDocument/2006/relationships/image"/><Relationship Id="rId17" Target="../media/image14.png" Type="http://schemas.openxmlformats.org/officeDocument/2006/relationships/image"/><Relationship Id="rId18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7.jpeg" Type="http://schemas.openxmlformats.org/officeDocument/2006/relationships/image"/><Relationship Id="rId8" Target="../media/image7.png" Type="http://schemas.openxmlformats.org/officeDocument/2006/relationships/image"/><Relationship Id="rId9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26617">
            <a:off x="3395976" y="319085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41392" y="587451"/>
            <a:ext cx="9122342" cy="9105756"/>
          </a:xfrm>
          <a:custGeom>
            <a:avLst/>
            <a:gdLst/>
            <a:ahLst/>
            <a:cxnLst/>
            <a:rect r="r" b="b" t="t" l="l"/>
            <a:pathLst>
              <a:path h="9105756" w="9122342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57946">
            <a:off x="10971715" y="1704128"/>
            <a:ext cx="7674174" cy="2885362"/>
          </a:xfrm>
          <a:custGeom>
            <a:avLst/>
            <a:gdLst/>
            <a:ahLst/>
            <a:cxnLst/>
            <a:rect r="r" b="b" t="t" l="l"/>
            <a:pathLst>
              <a:path h="2885362" w="7674174">
                <a:moveTo>
                  <a:pt x="0" y="0"/>
                </a:moveTo>
                <a:lnTo>
                  <a:pt x="7674174" y="0"/>
                </a:lnTo>
                <a:lnTo>
                  <a:pt x="7674174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329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57946">
            <a:off x="8438712" y="4719029"/>
            <a:ext cx="7674174" cy="3837087"/>
          </a:xfrm>
          <a:custGeom>
            <a:avLst/>
            <a:gdLst/>
            <a:ahLst/>
            <a:cxnLst/>
            <a:rect r="r" b="b" t="t" l="l"/>
            <a:pathLst>
              <a:path h="3837087" w="7674174">
                <a:moveTo>
                  <a:pt x="0" y="3837087"/>
                </a:moveTo>
                <a:lnTo>
                  <a:pt x="7674174" y="3837087"/>
                </a:lnTo>
                <a:lnTo>
                  <a:pt x="7674174" y="0"/>
                </a:lnTo>
                <a:lnTo>
                  <a:pt x="0" y="0"/>
                </a:lnTo>
                <a:lnTo>
                  <a:pt x="0" y="38370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75622" y="1713388"/>
            <a:ext cx="6853883" cy="685388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76794" y="1914560"/>
            <a:ext cx="6451538" cy="645153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8125" t="0" r="-28125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-490826" y="6898256"/>
            <a:ext cx="1519526" cy="3084508"/>
          </a:xfrm>
          <a:custGeom>
            <a:avLst/>
            <a:gdLst/>
            <a:ahLst/>
            <a:cxnLst/>
            <a:rect r="r" b="b" t="t" l="l"/>
            <a:pathLst>
              <a:path h="3084508" w="1519526">
                <a:moveTo>
                  <a:pt x="0" y="0"/>
                </a:moveTo>
                <a:lnTo>
                  <a:pt x="1519526" y="0"/>
                </a:lnTo>
                <a:lnTo>
                  <a:pt x="1519526" y="3084508"/>
                </a:lnTo>
                <a:lnTo>
                  <a:pt x="0" y="3084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818832" y="0"/>
            <a:ext cx="2071591" cy="4205152"/>
          </a:xfrm>
          <a:custGeom>
            <a:avLst/>
            <a:gdLst/>
            <a:ahLst/>
            <a:cxnLst/>
            <a:rect r="r" b="b" t="t" l="l"/>
            <a:pathLst>
              <a:path h="4205152" w="2071591">
                <a:moveTo>
                  <a:pt x="2071591" y="0"/>
                </a:moveTo>
                <a:lnTo>
                  <a:pt x="0" y="0"/>
                </a:lnTo>
                <a:lnTo>
                  <a:pt x="0" y="4205152"/>
                </a:lnTo>
                <a:lnTo>
                  <a:pt x="2071591" y="4205152"/>
                </a:lnTo>
                <a:lnTo>
                  <a:pt x="2071591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81992" y="-3498726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0" y="0"/>
                </a:moveTo>
                <a:lnTo>
                  <a:pt x="4793807" y="0"/>
                </a:lnTo>
                <a:lnTo>
                  <a:pt x="4793807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108917" y="8366098"/>
            <a:ext cx="4940090" cy="4949088"/>
          </a:xfrm>
          <a:custGeom>
            <a:avLst/>
            <a:gdLst/>
            <a:ahLst/>
            <a:cxnLst/>
            <a:rect r="r" b="b" t="t" l="l"/>
            <a:pathLst>
              <a:path h="4949088" w="4940090">
                <a:moveTo>
                  <a:pt x="0" y="0"/>
                </a:moveTo>
                <a:lnTo>
                  <a:pt x="4940090" y="0"/>
                </a:lnTo>
                <a:lnTo>
                  <a:pt x="4940090" y="4949088"/>
                </a:lnTo>
                <a:lnTo>
                  <a:pt x="0" y="4949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96449" y="2218183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1" y="0"/>
                </a:lnTo>
                <a:lnTo>
                  <a:pt x="1647551" y="200701"/>
                </a:lnTo>
                <a:lnTo>
                  <a:pt x="0" y="20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12750" y="8440510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1053061"/>
            <a:ext cx="781082" cy="781082"/>
          </a:xfrm>
          <a:custGeom>
            <a:avLst/>
            <a:gdLst/>
            <a:ahLst/>
            <a:cxnLst/>
            <a:rect r="r" b="b" t="t" l="l"/>
            <a:pathLst>
              <a:path h="781082" w="781082">
                <a:moveTo>
                  <a:pt x="0" y="0"/>
                </a:moveTo>
                <a:lnTo>
                  <a:pt x="781082" y="0"/>
                </a:lnTo>
                <a:lnTo>
                  <a:pt x="781082" y="781082"/>
                </a:lnTo>
                <a:lnTo>
                  <a:pt x="0" y="78108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27008" y="1160588"/>
            <a:ext cx="5741040" cy="40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Technology f</a:t>
            </a:r>
            <a:r>
              <a:rPr lang="en-US" sz="24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or Teaching and Learning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27401" y="8366098"/>
            <a:ext cx="6186648" cy="66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401" i="true" spc="3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PRESENTED BY : Juliana Deloso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3532" y="4391451"/>
            <a:ext cx="10674565" cy="209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72"/>
              </a:lnSpc>
            </a:pPr>
            <a:r>
              <a:rPr lang="en-US" sz="15950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C.1 USE OF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1019" y="6116694"/>
            <a:ext cx="11575240" cy="190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13"/>
              </a:lnSpc>
            </a:pPr>
            <a:r>
              <a:rPr lang="en-US" sz="1455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4781" y="2901140"/>
            <a:ext cx="8419219" cy="130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401" i="true" spc="3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Innovative Technologies for Assessment Tasks in Teaching and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607619">
            <a:off x="-7164311" y="348009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1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1" y="6754287"/>
                </a:lnTo>
                <a:lnTo>
                  <a:pt x="20299771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0000">
            <a:off x="5155679" y="348009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96904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4793808" y="0"/>
                </a:moveTo>
                <a:lnTo>
                  <a:pt x="0" y="0"/>
                </a:lnTo>
                <a:lnTo>
                  <a:pt x="0" y="4802539"/>
                </a:lnTo>
                <a:lnTo>
                  <a:pt x="4793808" y="4802539"/>
                </a:lnTo>
                <a:lnTo>
                  <a:pt x="47938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096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0" y="0"/>
                </a:moveTo>
                <a:lnTo>
                  <a:pt x="4793808" y="0"/>
                </a:lnTo>
                <a:lnTo>
                  <a:pt x="4793808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75190" y="1419129"/>
            <a:ext cx="7482332" cy="134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2"/>
              </a:lnSpc>
            </a:pPr>
            <a:r>
              <a:rPr lang="en-US" sz="10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WHAT’S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22175" y="1440623"/>
            <a:ext cx="13870694" cy="134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2"/>
              </a:lnSpc>
            </a:pPr>
            <a:r>
              <a:rPr lang="en-US" sz="10270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INSIDE??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754171" y="1787829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86279" y="1787829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781222" y="8767760"/>
            <a:ext cx="4726694" cy="490540"/>
            <a:chOff x="0" y="0"/>
            <a:chExt cx="3915949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2767843" y="2729383"/>
            <a:ext cx="12752315" cy="7090287"/>
          </a:xfrm>
          <a:custGeom>
            <a:avLst/>
            <a:gdLst/>
            <a:ahLst/>
            <a:cxnLst/>
            <a:rect r="r" b="b" t="t" l="l"/>
            <a:pathLst>
              <a:path h="7090287" w="12752315">
                <a:moveTo>
                  <a:pt x="0" y="0"/>
                </a:moveTo>
                <a:lnTo>
                  <a:pt x="12752314" y="0"/>
                </a:lnTo>
                <a:lnTo>
                  <a:pt x="12752314" y="7090287"/>
                </a:lnTo>
                <a:lnTo>
                  <a:pt x="0" y="70902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883" y="-627908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1365">
            <a:off x="3811636" y="3648079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87075" y="1238299"/>
            <a:ext cx="7621741" cy="7958376"/>
          </a:xfrm>
          <a:custGeom>
            <a:avLst/>
            <a:gdLst/>
            <a:ahLst/>
            <a:cxnLst/>
            <a:rect r="r" b="b" t="t" l="l"/>
            <a:pathLst>
              <a:path h="7958376" w="7621741">
                <a:moveTo>
                  <a:pt x="0" y="0"/>
                </a:moveTo>
                <a:lnTo>
                  <a:pt x="7621741" y="0"/>
                </a:lnTo>
                <a:lnTo>
                  <a:pt x="7621741" y="7958376"/>
                </a:lnTo>
                <a:lnTo>
                  <a:pt x="0" y="7958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7187372" y="6347008"/>
            <a:ext cx="1519526" cy="3084508"/>
          </a:xfrm>
          <a:custGeom>
            <a:avLst/>
            <a:gdLst/>
            <a:ahLst/>
            <a:cxnLst/>
            <a:rect r="r" b="b" t="t" l="l"/>
            <a:pathLst>
              <a:path h="3084508" w="1519526">
                <a:moveTo>
                  <a:pt x="1519526" y="3084508"/>
                </a:moveTo>
                <a:lnTo>
                  <a:pt x="0" y="3084508"/>
                </a:lnTo>
                <a:lnTo>
                  <a:pt x="0" y="0"/>
                </a:lnTo>
                <a:lnTo>
                  <a:pt x="1519526" y="0"/>
                </a:lnTo>
                <a:lnTo>
                  <a:pt x="1519526" y="3084508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400000">
            <a:off x="7345876" y="8820306"/>
            <a:ext cx="1186914" cy="2409334"/>
          </a:xfrm>
          <a:custGeom>
            <a:avLst/>
            <a:gdLst/>
            <a:ahLst/>
            <a:cxnLst/>
            <a:rect r="r" b="b" t="t" l="l"/>
            <a:pathLst>
              <a:path h="2409334" w="1186914">
                <a:moveTo>
                  <a:pt x="1186914" y="0"/>
                </a:moveTo>
                <a:lnTo>
                  <a:pt x="0" y="0"/>
                </a:lnTo>
                <a:lnTo>
                  <a:pt x="0" y="2409334"/>
                </a:lnTo>
                <a:lnTo>
                  <a:pt x="1186914" y="2409334"/>
                </a:lnTo>
                <a:lnTo>
                  <a:pt x="1186914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13296" y="3608997"/>
            <a:ext cx="9946004" cy="589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9"/>
              </a:lnSpc>
            </a:pPr>
            <a:r>
              <a:rPr lang="en-US" sz="2699" spc="16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AT THE END OF THE LESSON, LEARNERS WILL BE ABLE TO:</a:t>
            </a:r>
          </a:p>
          <a:p>
            <a:pPr algn="just">
              <a:lnSpc>
                <a:spcPts val="3509"/>
              </a:lnSpc>
            </a:pPr>
          </a:p>
          <a:p>
            <a:pPr algn="l" marL="604518" indent="-302259" lvl="1">
              <a:lnSpc>
                <a:spcPts val="3639"/>
              </a:lnSpc>
              <a:buFont typeface="Arial"/>
              <a:buChar char="•"/>
            </a:pPr>
            <a:r>
              <a:rPr lang="en-US" sz="2799" spc="16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DEFINE AND DESCRIBE EPORTFOLIO AND EXPLAIN ITS PURPOSE IN ASSESSMENT.</a:t>
            </a:r>
          </a:p>
          <a:p>
            <a:pPr algn="l" marL="604518" indent="-302259" lvl="1">
              <a:lnSpc>
                <a:spcPts val="3639"/>
              </a:lnSpc>
              <a:buFont typeface="Arial"/>
              <a:buChar char="•"/>
            </a:pPr>
            <a:r>
              <a:rPr lang="en-US" sz="2799" spc="16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IDENTIFY THE ESSENTIAL COMPONENTS AND FEATURES OF AN EPORTFOLIO.</a:t>
            </a:r>
          </a:p>
          <a:p>
            <a:pPr algn="l" marL="604518" indent="-302259" lvl="1">
              <a:lnSpc>
                <a:spcPts val="3639"/>
              </a:lnSpc>
              <a:buFont typeface="Arial"/>
              <a:buChar char="•"/>
            </a:pPr>
            <a:r>
              <a:rPr lang="en-US" sz="2799" spc="16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EXPLAIN THE IMPORTANCE OF EPORTFOLIO IN DOCUMENTING LEARNING PROGRESS.</a:t>
            </a:r>
          </a:p>
          <a:p>
            <a:pPr algn="l" marL="604518" indent="-302259" lvl="1">
              <a:lnSpc>
                <a:spcPts val="3639"/>
              </a:lnSpc>
              <a:buFont typeface="Arial"/>
              <a:buChar char="•"/>
            </a:pPr>
            <a:r>
              <a:rPr lang="en-US" sz="2799" spc="16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DIFFERENTIATE TRADITIONAL PORTFOLIOS FROM EPORTFOLIOS.</a:t>
            </a:r>
          </a:p>
          <a:p>
            <a:pPr algn="l" marL="604518" indent="-302259" lvl="1">
              <a:lnSpc>
                <a:spcPts val="3639"/>
              </a:lnSpc>
              <a:buFont typeface="Arial"/>
              <a:buChar char="•"/>
            </a:pPr>
            <a:r>
              <a:rPr lang="en-US" sz="2799" spc="16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IDENTIFY THE ADVANTAGES AND CHALLENGES OF USING EPORTFOLIO.</a:t>
            </a:r>
          </a:p>
          <a:p>
            <a:pPr algn="l" marL="604518" indent="-302259" lvl="1">
              <a:lnSpc>
                <a:spcPts val="3639"/>
              </a:lnSpc>
              <a:buFont typeface="Arial"/>
              <a:buChar char="•"/>
            </a:pPr>
            <a:r>
              <a:rPr lang="en-US" sz="2799" spc="16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CREATE A SIMPLE EPORTFOLIO USING AN APPROPRIATE DIGITAL PLATFORM.</a:t>
            </a:r>
          </a:p>
          <a:p>
            <a:pPr algn="just">
              <a:lnSpc>
                <a:spcPts val="350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459175" y="1829118"/>
            <a:ext cx="9253910" cy="130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663"/>
              </a:lnSpc>
            </a:pPr>
            <a:r>
              <a:rPr lang="en-US" sz="9962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LE</a:t>
            </a:r>
            <a:r>
              <a:rPr lang="en-US" sz="9962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ARNING OBJECTIVES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665745" y="8679076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1" y="0"/>
                </a:lnTo>
                <a:lnTo>
                  <a:pt x="1647551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647151" y="899054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2607619">
            <a:off x="-7164311" y="348009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1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1" y="6754287"/>
                </a:lnTo>
                <a:lnTo>
                  <a:pt x="20299771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0000">
            <a:off x="5155679" y="348009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396904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4793808" y="0"/>
                </a:moveTo>
                <a:lnTo>
                  <a:pt x="0" y="0"/>
                </a:lnTo>
                <a:lnTo>
                  <a:pt x="0" y="4802539"/>
                </a:lnTo>
                <a:lnTo>
                  <a:pt x="4793808" y="4802539"/>
                </a:lnTo>
                <a:lnTo>
                  <a:pt x="479380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91096" y="8737833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0" y="0"/>
                </a:moveTo>
                <a:lnTo>
                  <a:pt x="4793808" y="0"/>
                </a:lnTo>
                <a:lnTo>
                  <a:pt x="4793808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81891" y="4802586"/>
            <a:ext cx="2919836" cy="3115504"/>
            <a:chOff x="0" y="0"/>
            <a:chExt cx="769010" cy="8205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9010" cy="820544"/>
            </a:xfrm>
            <a:custGeom>
              <a:avLst/>
              <a:gdLst/>
              <a:ahLst/>
              <a:cxnLst/>
              <a:rect r="r" b="b" t="t" l="l"/>
              <a:pathLst>
                <a:path h="820544" w="769010">
                  <a:moveTo>
                    <a:pt x="76893" y="0"/>
                  </a:moveTo>
                  <a:lnTo>
                    <a:pt x="692117" y="0"/>
                  </a:lnTo>
                  <a:cubicBezTo>
                    <a:pt x="734584" y="0"/>
                    <a:pt x="769010" y="34426"/>
                    <a:pt x="769010" y="76893"/>
                  </a:cubicBezTo>
                  <a:lnTo>
                    <a:pt x="769010" y="743651"/>
                  </a:lnTo>
                  <a:cubicBezTo>
                    <a:pt x="769010" y="764044"/>
                    <a:pt x="760909" y="783602"/>
                    <a:pt x="746489" y="798023"/>
                  </a:cubicBezTo>
                  <a:cubicBezTo>
                    <a:pt x="732069" y="812443"/>
                    <a:pt x="712510" y="820544"/>
                    <a:pt x="692117" y="820544"/>
                  </a:cubicBezTo>
                  <a:lnTo>
                    <a:pt x="76893" y="820544"/>
                  </a:lnTo>
                  <a:cubicBezTo>
                    <a:pt x="56500" y="820544"/>
                    <a:pt x="36942" y="812443"/>
                    <a:pt x="22522" y="798023"/>
                  </a:cubicBezTo>
                  <a:cubicBezTo>
                    <a:pt x="8101" y="783602"/>
                    <a:pt x="0" y="764044"/>
                    <a:pt x="0" y="743651"/>
                  </a:cubicBezTo>
                  <a:lnTo>
                    <a:pt x="0" y="76893"/>
                  </a:lnTo>
                  <a:cubicBezTo>
                    <a:pt x="0" y="56500"/>
                    <a:pt x="8101" y="36942"/>
                    <a:pt x="22522" y="22522"/>
                  </a:cubicBezTo>
                  <a:cubicBezTo>
                    <a:pt x="36942" y="8101"/>
                    <a:pt x="56500" y="0"/>
                    <a:pt x="768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69010" cy="868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83840" y="4802586"/>
            <a:ext cx="2919836" cy="3115504"/>
            <a:chOff x="0" y="0"/>
            <a:chExt cx="769010" cy="8205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9010" cy="820544"/>
            </a:xfrm>
            <a:custGeom>
              <a:avLst/>
              <a:gdLst/>
              <a:ahLst/>
              <a:cxnLst/>
              <a:rect r="r" b="b" t="t" l="l"/>
              <a:pathLst>
                <a:path h="820544" w="769010">
                  <a:moveTo>
                    <a:pt x="76893" y="0"/>
                  </a:moveTo>
                  <a:lnTo>
                    <a:pt x="692117" y="0"/>
                  </a:lnTo>
                  <a:cubicBezTo>
                    <a:pt x="734584" y="0"/>
                    <a:pt x="769010" y="34426"/>
                    <a:pt x="769010" y="76893"/>
                  </a:cubicBezTo>
                  <a:lnTo>
                    <a:pt x="769010" y="743651"/>
                  </a:lnTo>
                  <a:cubicBezTo>
                    <a:pt x="769010" y="764044"/>
                    <a:pt x="760909" y="783602"/>
                    <a:pt x="746489" y="798023"/>
                  </a:cubicBezTo>
                  <a:cubicBezTo>
                    <a:pt x="732069" y="812443"/>
                    <a:pt x="712510" y="820544"/>
                    <a:pt x="692117" y="820544"/>
                  </a:cubicBezTo>
                  <a:lnTo>
                    <a:pt x="76893" y="820544"/>
                  </a:lnTo>
                  <a:cubicBezTo>
                    <a:pt x="56500" y="820544"/>
                    <a:pt x="36942" y="812443"/>
                    <a:pt x="22522" y="798023"/>
                  </a:cubicBezTo>
                  <a:cubicBezTo>
                    <a:pt x="8101" y="783602"/>
                    <a:pt x="0" y="764044"/>
                    <a:pt x="0" y="743651"/>
                  </a:cubicBezTo>
                  <a:lnTo>
                    <a:pt x="0" y="76893"/>
                  </a:lnTo>
                  <a:cubicBezTo>
                    <a:pt x="0" y="56500"/>
                    <a:pt x="8101" y="36942"/>
                    <a:pt x="22522" y="22522"/>
                  </a:cubicBezTo>
                  <a:cubicBezTo>
                    <a:pt x="36942" y="8101"/>
                    <a:pt x="56500" y="0"/>
                    <a:pt x="7689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69010" cy="868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684651" y="4802586"/>
            <a:ext cx="8063342" cy="3115504"/>
            <a:chOff x="0" y="0"/>
            <a:chExt cx="2123679" cy="8205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23679" cy="820544"/>
            </a:xfrm>
            <a:custGeom>
              <a:avLst/>
              <a:gdLst/>
              <a:ahLst/>
              <a:cxnLst/>
              <a:rect r="r" b="b" t="t" l="l"/>
              <a:pathLst>
                <a:path h="820544" w="2123679">
                  <a:moveTo>
                    <a:pt x="27844" y="0"/>
                  </a:moveTo>
                  <a:lnTo>
                    <a:pt x="2095834" y="0"/>
                  </a:lnTo>
                  <a:cubicBezTo>
                    <a:pt x="2103219" y="0"/>
                    <a:pt x="2110301" y="2934"/>
                    <a:pt x="2115523" y="8155"/>
                  </a:cubicBezTo>
                  <a:cubicBezTo>
                    <a:pt x="2120745" y="13377"/>
                    <a:pt x="2123679" y="20459"/>
                    <a:pt x="2123679" y="27844"/>
                  </a:cubicBezTo>
                  <a:lnTo>
                    <a:pt x="2123679" y="792700"/>
                  </a:lnTo>
                  <a:cubicBezTo>
                    <a:pt x="2123679" y="808078"/>
                    <a:pt x="2111212" y="820544"/>
                    <a:pt x="2095834" y="820544"/>
                  </a:cubicBezTo>
                  <a:lnTo>
                    <a:pt x="27844" y="820544"/>
                  </a:lnTo>
                  <a:cubicBezTo>
                    <a:pt x="12466" y="820544"/>
                    <a:pt x="0" y="808078"/>
                    <a:pt x="0" y="792700"/>
                  </a:cubicBezTo>
                  <a:lnTo>
                    <a:pt x="0" y="27844"/>
                  </a:lnTo>
                  <a:cubicBezTo>
                    <a:pt x="0" y="12466"/>
                    <a:pt x="12466" y="0"/>
                    <a:pt x="278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123679" cy="868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710054" y="1419129"/>
            <a:ext cx="7482332" cy="134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2"/>
              </a:lnSpc>
            </a:pPr>
            <a:r>
              <a:rPr lang="en-US" sz="10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WHAT IS 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83840" y="1419129"/>
            <a:ext cx="13870694" cy="134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62"/>
              </a:lnSpc>
            </a:pPr>
            <a:r>
              <a:rPr lang="en-US" sz="10270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88564" y="3484302"/>
            <a:ext cx="12306632" cy="57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0"/>
              </a:lnSpc>
            </a:pPr>
            <a:r>
              <a:rPr lang="en-US" sz="349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ePortfolio or el</a:t>
            </a:r>
            <a:r>
              <a:rPr lang="en-US" sz="349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ectronic portfolio is a digital collection of a learner’s: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7658" y="5453617"/>
            <a:ext cx="2746133" cy="1765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Learning ou</a:t>
            </a:r>
            <a:r>
              <a:rPr lang="en-US" sz="27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tputs</a:t>
            </a:r>
          </a:p>
          <a:p>
            <a:pPr algn="l" marL="582930" indent="-291465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Achievements</a:t>
            </a:r>
          </a:p>
          <a:p>
            <a:pPr algn="l" marL="582930" indent="-291465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Experiences</a:t>
            </a:r>
          </a:p>
          <a:p>
            <a:pPr algn="l" marL="582930" indent="-291465" lvl="1">
              <a:lnSpc>
                <a:spcPts val="351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Reflections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10005" y="5150028"/>
            <a:ext cx="2541271" cy="2382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9"/>
              </a:lnSpc>
            </a:pPr>
            <a:r>
              <a:rPr lang="en-US" sz="28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It provides evide</a:t>
            </a:r>
            <a:r>
              <a:rPr lang="en-US" sz="28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nce of a learner’s progress and learning.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13251" y="5477762"/>
            <a:ext cx="7533497" cy="171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4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Unlike a traditional portfolio, </a:t>
            </a:r>
            <a:r>
              <a:rPr lang="en-US" sz="34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 ePortfolio is created, stored, organized, and presented using digital technology.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754171" y="1787829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886279" y="1787829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781222" y="8767760"/>
            <a:ext cx="4726694" cy="490540"/>
            <a:chOff x="0" y="0"/>
            <a:chExt cx="3915949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975364">
            <a:off x="9101346" y="-6203143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5143500"/>
            <a:ext cx="643117" cy="64311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316027" y="5143500"/>
            <a:ext cx="643117" cy="64311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31F8A">
                    <a:alpha val="100000"/>
                  </a:srgbClr>
                </a:gs>
                <a:gs pos="100000">
                  <a:srgbClr val="6A2E9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59918" y="5280210"/>
            <a:ext cx="4653842" cy="42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Document</a:t>
            </a: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learning progress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59918" y="7138823"/>
            <a:ext cx="6493119" cy="42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Provide evidenc</a:t>
            </a: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 of learning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65652" y="5294079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3" y="0"/>
                </a:lnTo>
                <a:lnTo>
                  <a:pt x="369213" y="341959"/>
                </a:lnTo>
                <a:lnTo>
                  <a:pt x="0" y="341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2979" y="5294079"/>
            <a:ext cx="369212" cy="341958"/>
          </a:xfrm>
          <a:custGeom>
            <a:avLst/>
            <a:gdLst/>
            <a:ahLst/>
            <a:cxnLst/>
            <a:rect r="r" b="b" t="t" l="l"/>
            <a:pathLst>
              <a:path h="341958" w="369212">
                <a:moveTo>
                  <a:pt x="0" y="0"/>
                </a:moveTo>
                <a:lnTo>
                  <a:pt x="369212" y="0"/>
                </a:lnTo>
                <a:lnTo>
                  <a:pt x="369212" y="341959"/>
                </a:lnTo>
                <a:lnTo>
                  <a:pt x="0" y="341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316027" y="6130867"/>
            <a:ext cx="643117" cy="643117"/>
            <a:chOff x="0" y="0"/>
            <a:chExt cx="857489" cy="85748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857489" cy="85748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31F8A">
                      <a:alpha val="100000"/>
                    </a:srgbClr>
                  </a:gs>
                  <a:gs pos="100000">
                    <a:srgbClr val="6A2E9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182603" y="205755"/>
              <a:ext cx="492283" cy="455944"/>
            </a:xfrm>
            <a:custGeom>
              <a:avLst/>
              <a:gdLst/>
              <a:ahLst/>
              <a:cxnLst/>
              <a:rect r="r" b="b" t="t" l="l"/>
              <a:pathLst>
                <a:path h="455944" w="492283">
                  <a:moveTo>
                    <a:pt x="0" y="0"/>
                  </a:moveTo>
                  <a:lnTo>
                    <a:pt x="492283" y="0"/>
                  </a:lnTo>
                  <a:lnTo>
                    <a:pt x="492283" y="455944"/>
                  </a:lnTo>
                  <a:lnTo>
                    <a:pt x="0" y="45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-431506" y="292352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9501573" y="8413669"/>
            <a:ext cx="1520526" cy="3086537"/>
          </a:xfrm>
          <a:custGeom>
            <a:avLst/>
            <a:gdLst/>
            <a:ahLst/>
            <a:cxnLst/>
            <a:rect r="r" b="b" t="t" l="l"/>
            <a:pathLst>
              <a:path h="3086537" w="1520526">
                <a:moveTo>
                  <a:pt x="0" y="0"/>
                </a:moveTo>
                <a:lnTo>
                  <a:pt x="1520525" y="0"/>
                </a:lnTo>
                <a:lnTo>
                  <a:pt x="1520525" y="3086537"/>
                </a:lnTo>
                <a:lnTo>
                  <a:pt x="0" y="3086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150928" y="7813705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1" y="0"/>
                </a:lnTo>
                <a:lnTo>
                  <a:pt x="1647551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8718567" y="122930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085850" y="6955630"/>
            <a:ext cx="643117" cy="643117"/>
            <a:chOff x="0" y="0"/>
            <a:chExt cx="857489" cy="85748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57489" cy="857489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31F8A">
                      <a:alpha val="100000"/>
                    </a:srgbClr>
                  </a:gs>
                  <a:gs pos="100000">
                    <a:srgbClr val="6A2E9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27" id="27"/>
            <p:cNvSpPr/>
            <p:nvPr/>
          </p:nvSpPr>
          <p:spPr>
            <a:xfrm flipH="false" flipV="false" rot="0">
              <a:off x="182603" y="205755"/>
              <a:ext cx="492283" cy="455944"/>
            </a:xfrm>
            <a:custGeom>
              <a:avLst/>
              <a:gdLst/>
              <a:ahLst/>
              <a:cxnLst/>
              <a:rect r="r" b="b" t="t" l="l"/>
              <a:pathLst>
                <a:path h="455944" w="492283">
                  <a:moveTo>
                    <a:pt x="0" y="0"/>
                  </a:moveTo>
                  <a:lnTo>
                    <a:pt x="492283" y="0"/>
                  </a:lnTo>
                  <a:lnTo>
                    <a:pt x="492283" y="455944"/>
                  </a:lnTo>
                  <a:lnTo>
                    <a:pt x="0" y="45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85850" y="7861695"/>
            <a:ext cx="643117" cy="643117"/>
            <a:chOff x="0" y="0"/>
            <a:chExt cx="857489" cy="857489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57489" cy="857489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31F8A">
                      <a:alpha val="100000"/>
                    </a:srgbClr>
                  </a:gs>
                  <a:gs pos="100000">
                    <a:srgbClr val="6A2E9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32" id="32"/>
            <p:cNvSpPr/>
            <p:nvPr/>
          </p:nvSpPr>
          <p:spPr>
            <a:xfrm flipH="false" flipV="false" rot="0">
              <a:off x="182603" y="205755"/>
              <a:ext cx="492283" cy="455944"/>
            </a:xfrm>
            <a:custGeom>
              <a:avLst/>
              <a:gdLst/>
              <a:ahLst/>
              <a:cxnLst/>
              <a:rect r="r" b="b" t="t" l="l"/>
              <a:pathLst>
                <a:path h="455944" w="492283">
                  <a:moveTo>
                    <a:pt x="0" y="0"/>
                  </a:moveTo>
                  <a:lnTo>
                    <a:pt x="492283" y="0"/>
                  </a:lnTo>
                  <a:lnTo>
                    <a:pt x="492283" y="455944"/>
                  </a:lnTo>
                  <a:lnTo>
                    <a:pt x="0" y="45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85850" y="6045813"/>
            <a:ext cx="643117" cy="643117"/>
            <a:chOff x="0" y="0"/>
            <a:chExt cx="857489" cy="85748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57489" cy="857489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31F8A">
                      <a:alpha val="100000"/>
                    </a:srgbClr>
                  </a:gs>
                  <a:gs pos="100000">
                    <a:srgbClr val="6A2E9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182603" y="205755"/>
              <a:ext cx="492283" cy="455944"/>
            </a:xfrm>
            <a:custGeom>
              <a:avLst/>
              <a:gdLst/>
              <a:ahLst/>
              <a:cxnLst/>
              <a:rect r="r" b="b" t="t" l="l"/>
              <a:pathLst>
                <a:path h="455944" w="492283">
                  <a:moveTo>
                    <a:pt x="0" y="0"/>
                  </a:moveTo>
                  <a:lnTo>
                    <a:pt x="492283" y="0"/>
                  </a:lnTo>
                  <a:lnTo>
                    <a:pt x="492283" y="455944"/>
                  </a:lnTo>
                  <a:lnTo>
                    <a:pt x="0" y="45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316027" y="7002111"/>
            <a:ext cx="643117" cy="643117"/>
            <a:chOff x="0" y="0"/>
            <a:chExt cx="857489" cy="857489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857489" cy="857489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31F8A">
                      <a:alpha val="100000"/>
                    </a:srgbClr>
                  </a:gs>
                  <a:gs pos="100000">
                    <a:srgbClr val="6A2E9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42" id="42"/>
            <p:cNvSpPr/>
            <p:nvPr/>
          </p:nvSpPr>
          <p:spPr>
            <a:xfrm flipH="false" flipV="false" rot="0">
              <a:off x="182603" y="205755"/>
              <a:ext cx="492283" cy="455944"/>
            </a:xfrm>
            <a:custGeom>
              <a:avLst/>
              <a:gdLst/>
              <a:ahLst/>
              <a:cxnLst/>
              <a:rect r="r" b="b" t="t" l="l"/>
              <a:pathLst>
                <a:path h="455944" w="492283">
                  <a:moveTo>
                    <a:pt x="0" y="0"/>
                  </a:moveTo>
                  <a:lnTo>
                    <a:pt x="492283" y="0"/>
                  </a:lnTo>
                  <a:lnTo>
                    <a:pt x="492283" y="455944"/>
                  </a:lnTo>
                  <a:lnTo>
                    <a:pt x="0" y="45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12221360" y="1653981"/>
            <a:ext cx="5689985" cy="6287277"/>
          </a:xfrm>
          <a:custGeom>
            <a:avLst/>
            <a:gdLst/>
            <a:ahLst/>
            <a:cxnLst/>
            <a:rect r="r" b="b" t="t" l="l"/>
            <a:pathLst>
              <a:path h="6287277" w="5689985">
                <a:moveTo>
                  <a:pt x="0" y="0"/>
                </a:moveTo>
                <a:lnTo>
                  <a:pt x="5689985" y="0"/>
                </a:lnTo>
                <a:lnTo>
                  <a:pt x="5689985" y="6287277"/>
                </a:lnTo>
                <a:lnTo>
                  <a:pt x="0" y="62872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028700" y="839845"/>
            <a:ext cx="7486132" cy="1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3"/>
              </a:lnSpc>
            </a:pPr>
            <a:r>
              <a:rPr lang="en-US" sz="1108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PURPOSE OF</a:t>
            </a:r>
            <a:r>
              <a:rPr lang="en-US" sz="1108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AN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23420" y="5280210"/>
            <a:ext cx="4835990" cy="81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Encou</a:t>
            </a: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rage self-assessment and reflection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859918" y="6092861"/>
            <a:ext cx="4341809" cy="81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Showcase achi</a:t>
            </a: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evements and competencies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92494" y="6283356"/>
            <a:ext cx="5380133" cy="42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Provide opportun</a:t>
            </a: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ities for feedback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28700" y="2277455"/>
            <a:ext cx="9787056" cy="1443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53"/>
              </a:lnSpc>
            </a:pPr>
            <a:r>
              <a:rPr lang="en-US" sz="11086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8700" y="3673333"/>
            <a:ext cx="6353024" cy="81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9"/>
              </a:lnSpc>
            </a:pPr>
            <a:r>
              <a:rPr lang="en-US" sz="503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 ePo</a:t>
            </a:r>
            <a:r>
              <a:rPr lang="en-US" sz="503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rtfolio is used to: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859918" y="7998408"/>
            <a:ext cx="6493119" cy="426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Monitor learner development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111544" y="6967373"/>
            <a:ext cx="5380133" cy="81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4"/>
              </a:lnSpc>
            </a:pP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Promote learn</a:t>
            </a:r>
            <a:r>
              <a:rPr lang="en-US" sz="3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er ownership of learning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0509813">
            <a:off x="119039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54844">
            <a:off x="4027966" y="3480094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017745" y="5210303"/>
            <a:ext cx="1622664" cy="3293868"/>
          </a:xfrm>
          <a:custGeom>
            <a:avLst/>
            <a:gdLst/>
            <a:ahLst/>
            <a:cxnLst/>
            <a:rect r="r" b="b" t="t" l="l"/>
            <a:pathLst>
              <a:path h="3293868" w="1622664">
                <a:moveTo>
                  <a:pt x="1622664" y="0"/>
                </a:moveTo>
                <a:lnTo>
                  <a:pt x="0" y="0"/>
                </a:lnTo>
                <a:lnTo>
                  <a:pt x="0" y="3293869"/>
                </a:lnTo>
                <a:lnTo>
                  <a:pt x="1622664" y="3293869"/>
                </a:lnTo>
                <a:lnTo>
                  <a:pt x="1622664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590020" y="8233202"/>
            <a:ext cx="1627419" cy="3303521"/>
          </a:xfrm>
          <a:custGeom>
            <a:avLst/>
            <a:gdLst/>
            <a:ahLst/>
            <a:cxnLst/>
            <a:rect r="r" b="b" t="t" l="l"/>
            <a:pathLst>
              <a:path h="3303521" w="1627419">
                <a:moveTo>
                  <a:pt x="1627419" y="3303521"/>
                </a:moveTo>
                <a:lnTo>
                  <a:pt x="0" y="3303521"/>
                </a:lnTo>
                <a:lnTo>
                  <a:pt x="0" y="0"/>
                </a:lnTo>
                <a:lnTo>
                  <a:pt x="1627419" y="0"/>
                </a:lnTo>
                <a:lnTo>
                  <a:pt x="1627419" y="3303521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273433" y="639337"/>
            <a:ext cx="8657848" cy="128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513"/>
              </a:lnSpc>
            </a:pPr>
            <a:r>
              <a:rPr lang="en-US" sz="980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CHARACTERISTICS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90991" y="639337"/>
            <a:ext cx="7048760" cy="1287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513"/>
              </a:lnSpc>
            </a:pPr>
            <a:r>
              <a:rPr lang="en-US" sz="9807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AND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1759" y="2887402"/>
            <a:ext cx="14684482" cy="6050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461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 ePortfolio:</a:t>
            </a:r>
          </a:p>
          <a:p>
            <a:pPr algn="l" marL="996869" indent="-498434" lvl="1">
              <a:lnSpc>
                <a:spcPts val="6002"/>
              </a:lnSpc>
              <a:buFont typeface="Arial"/>
              <a:buChar char="•"/>
            </a:pPr>
            <a:r>
              <a:rPr lang="en-US" sz="461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Uses digital technology</a:t>
            </a:r>
          </a:p>
          <a:p>
            <a:pPr algn="l" marL="996869" indent="-498434" lvl="1">
              <a:lnSpc>
                <a:spcPts val="6002"/>
              </a:lnSpc>
              <a:buFont typeface="Arial"/>
              <a:buChar char="•"/>
            </a:pPr>
            <a:r>
              <a:rPr lang="en-US" sz="461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</a:t>
            </a:r>
            <a:r>
              <a:rPr lang="en-US" sz="461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rganizes learning evidence</a:t>
            </a:r>
          </a:p>
          <a:p>
            <a:pPr algn="l" marL="996869" indent="-498434" lvl="1">
              <a:lnSpc>
                <a:spcPts val="6002"/>
              </a:lnSpc>
              <a:buFont typeface="Arial"/>
              <a:buChar char="•"/>
            </a:pPr>
            <a:r>
              <a:rPr lang="en-US" sz="461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Shows progress over time</a:t>
            </a:r>
          </a:p>
          <a:p>
            <a:pPr algn="l" marL="996869" indent="-498434" lvl="1">
              <a:lnSpc>
                <a:spcPts val="6002"/>
              </a:lnSpc>
              <a:buFont typeface="Arial"/>
              <a:buChar char="•"/>
            </a:pPr>
            <a:r>
              <a:rPr lang="en-US" sz="461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Allows learners to showcase achievements</a:t>
            </a:r>
          </a:p>
          <a:p>
            <a:pPr algn="l" marL="996869" indent="-498434" lvl="1">
              <a:lnSpc>
                <a:spcPts val="6002"/>
              </a:lnSpc>
              <a:buFont typeface="Arial"/>
              <a:buChar char="•"/>
            </a:pPr>
            <a:r>
              <a:rPr lang="en-US" sz="461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Includes reflections and feedback</a:t>
            </a:r>
          </a:p>
          <a:p>
            <a:pPr algn="l" marL="996869" indent="-498434" lvl="1">
              <a:lnSpc>
                <a:spcPts val="6002"/>
              </a:lnSpc>
              <a:buFont typeface="Arial"/>
              <a:buChar char="•"/>
            </a:pPr>
            <a:r>
              <a:rPr lang="en-US" sz="461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Can be updated and accessed using appropriate digital devices</a:t>
            </a:r>
          </a:p>
          <a:p>
            <a:pPr algn="l">
              <a:lnSpc>
                <a:spcPts val="6002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6054259" y="8616989"/>
            <a:ext cx="6179482" cy="641311"/>
            <a:chOff x="0" y="0"/>
            <a:chExt cx="3915949" cy="406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7365349" y="1806816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841251" y="8597794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4" y="0"/>
                </a:lnTo>
                <a:lnTo>
                  <a:pt x="666144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6014263" y="6769491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26315"/>
            <a:ext cx="15102869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COMPONENTS OF</a:t>
            </a: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AN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52396"/>
            <a:ext cx="7666207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0425" y="3272059"/>
            <a:ext cx="7883575" cy="4504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85"/>
              </a:lnSpc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 effective ePortfolio may co</a:t>
            </a: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ntain:</a:t>
            </a:r>
          </a:p>
          <a:p>
            <a:pPr algn="l">
              <a:lnSpc>
                <a:spcPts val="5985"/>
              </a:lnSpc>
            </a:pPr>
          </a:p>
          <a:p>
            <a:pPr algn="l" marL="994011" indent="-497005" lvl="1">
              <a:lnSpc>
                <a:spcPts val="5985"/>
              </a:lnSpc>
              <a:buFont typeface="Arial"/>
              <a:buChar char="•"/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Learner Profile/Introduction    </a:t>
            </a:r>
          </a:p>
          <a:p>
            <a:pPr algn="l" marL="994011" indent="-497005" lvl="1">
              <a:lnSpc>
                <a:spcPts val="5985"/>
              </a:lnSpc>
              <a:buFont typeface="Arial"/>
              <a:buChar char="•"/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Learning Goals</a:t>
            </a:r>
          </a:p>
          <a:p>
            <a:pPr algn="l" marL="994011" indent="-497005" lvl="1">
              <a:lnSpc>
                <a:spcPts val="5985"/>
              </a:lnSpc>
              <a:buFont typeface="Arial"/>
              <a:buChar char="•"/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Learning Outputs</a:t>
            </a:r>
          </a:p>
          <a:p>
            <a:pPr algn="l" marL="994011" indent="-497005" lvl="1">
              <a:lnSpc>
                <a:spcPts val="5985"/>
              </a:lnSpc>
              <a:buFont typeface="Arial"/>
              <a:buChar char="•"/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Projects and Activities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979536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632440" y="8859295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91675" y="4637524"/>
            <a:ext cx="7883575" cy="300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94011" indent="-497006" lvl="1">
              <a:lnSpc>
                <a:spcPts val="5985"/>
              </a:lnSpc>
              <a:buFont typeface="Arial"/>
              <a:buChar char="•"/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Achievements/Certificates</a:t>
            </a:r>
          </a:p>
          <a:p>
            <a:pPr algn="l" marL="994011" indent="-497006" lvl="1">
              <a:lnSpc>
                <a:spcPts val="5985"/>
              </a:lnSpc>
              <a:buFont typeface="Arial"/>
              <a:buChar char="•"/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Mul</a:t>
            </a: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timedia Evidence</a:t>
            </a:r>
          </a:p>
          <a:p>
            <a:pPr algn="l" marL="994011" indent="-497006" lvl="1">
              <a:lnSpc>
                <a:spcPts val="5985"/>
              </a:lnSpc>
              <a:buFont typeface="Arial"/>
              <a:buChar char="•"/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F</a:t>
            </a: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eedback</a:t>
            </a:r>
          </a:p>
          <a:p>
            <a:pPr algn="l" marL="994011" indent="-497006" lvl="1">
              <a:lnSpc>
                <a:spcPts val="5985"/>
              </a:lnSpc>
              <a:buFont typeface="Arial"/>
              <a:buChar char="•"/>
            </a:pP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</a:t>
            </a:r>
            <a:r>
              <a:rPr lang="en-US" sz="460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ersonal Reflection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6014263" y="6769491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26315"/>
            <a:ext cx="15102869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COMPONENTS OF</a:t>
            </a: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AN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9536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32440" y="8859295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18602" y="2998167"/>
            <a:ext cx="12050795" cy="6786079"/>
          </a:xfrm>
          <a:custGeom>
            <a:avLst/>
            <a:gdLst/>
            <a:ahLst/>
            <a:cxnLst/>
            <a:rect r="r" b="b" t="t" l="l"/>
            <a:pathLst>
              <a:path h="6786079" w="12050795">
                <a:moveTo>
                  <a:pt x="0" y="0"/>
                </a:moveTo>
                <a:lnTo>
                  <a:pt x="12050796" y="0"/>
                </a:lnTo>
                <a:lnTo>
                  <a:pt x="12050796" y="6786079"/>
                </a:lnTo>
                <a:lnTo>
                  <a:pt x="0" y="67860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852396"/>
            <a:ext cx="7666207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6014263" y="6769491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26315"/>
            <a:ext cx="15102869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COMPONENTS OF</a:t>
            </a: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AN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9536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852396"/>
            <a:ext cx="7666207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76490" y="3286743"/>
            <a:ext cx="15102869" cy="1345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0"/>
              </a:lnSpc>
            </a:pPr>
            <a:r>
              <a:rPr lang="en-US" sz="52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Identify the different materials that can be included in an ePortfolio.  GIVE at least five (5) examples.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76490" y="4917948"/>
            <a:ext cx="14649030" cy="458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0"/>
              </a:lnSpc>
            </a:pPr>
            <a:r>
              <a:rPr lang="en-US" sz="52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QUESTIONS </a:t>
            </a:r>
          </a:p>
          <a:p>
            <a:pPr algn="l">
              <a:lnSpc>
                <a:spcPts val="5140"/>
              </a:lnSpc>
            </a:pPr>
          </a:p>
          <a:p>
            <a:pPr algn="l">
              <a:lnSpc>
                <a:spcPts val="5140"/>
              </a:lnSpc>
            </a:pPr>
            <a:r>
              <a:rPr lang="en-US" sz="52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1.     Why are these materials important to include in an ePortfolio?</a:t>
            </a:r>
          </a:p>
          <a:p>
            <a:pPr algn="l">
              <a:lnSpc>
                <a:spcPts val="5140"/>
              </a:lnSpc>
            </a:pPr>
          </a:p>
          <a:p>
            <a:pPr algn="l">
              <a:lnSpc>
                <a:spcPts val="5140"/>
              </a:lnSpc>
            </a:pPr>
            <a:r>
              <a:rPr lang="en-US" sz="52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2.     How can these materials show your learning, achievements, and progress?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6014263" y="6769491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26315"/>
            <a:ext cx="15102869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1. LEARNER PROFILE &amp;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9536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32440" y="8859295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9413" y="2998167"/>
            <a:ext cx="6949999" cy="5861128"/>
            <a:chOff x="0" y="0"/>
            <a:chExt cx="1830453" cy="1543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453" cy="1543672"/>
            </a:xfrm>
            <a:custGeom>
              <a:avLst/>
              <a:gdLst/>
              <a:ahLst/>
              <a:cxnLst/>
              <a:rect r="r" b="b" t="t" l="l"/>
              <a:pathLst>
                <a:path h="1543672" w="1830453">
                  <a:moveTo>
                    <a:pt x="74634" y="0"/>
                  </a:moveTo>
                  <a:lnTo>
                    <a:pt x="1755818" y="0"/>
                  </a:lnTo>
                  <a:cubicBezTo>
                    <a:pt x="1797038" y="0"/>
                    <a:pt x="1830453" y="33415"/>
                    <a:pt x="1830453" y="74634"/>
                  </a:cubicBezTo>
                  <a:lnTo>
                    <a:pt x="1830453" y="1469037"/>
                  </a:lnTo>
                  <a:cubicBezTo>
                    <a:pt x="1830453" y="1488832"/>
                    <a:pt x="1822589" y="1507815"/>
                    <a:pt x="1808593" y="1521812"/>
                  </a:cubicBezTo>
                  <a:cubicBezTo>
                    <a:pt x="1794596" y="1535808"/>
                    <a:pt x="1775613" y="1543672"/>
                    <a:pt x="1755818" y="1543672"/>
                  </a:cubicBezTo>
                  <a:lnTo>
                    <a:pt x="74634" y="1543672"/>
                  </a:lnTo>
                  <a:cubicBezTo>
                    <a:pt x="54840" y="1543672"/>
                    <a:pt x="35857" y="1535808"/>
                    <a:pt x="21860" y="1521812"/>
                  </a:cubicBezTo>
                  <a:cubicBezTo>
                    <a:pt x="7863" y="1507815"/>
                    <a:pt x="0" y="1488832"/>
                    <a:pt x="0" y="1469037"/>
                  </a:cubicBezTo>
                  <a:lnTo>
                    <a:pt x="0" y="74634"/>
                  </a:lnTo>
                  <a:cubicBezTo>
                    <a:pt x="0" y="54840"/>
                    <a:pt x="7863" y="35857"/>
                    <a:pt x="21860" y="21860"/>
                  </a:cubicBezTo>
                  <a:cubicBezTo>
                    <a:pt x="35857" y="7863"/>
                    <a:pt x="54840" y="0"/>
                    <a:pt x="74634" y="0"/>
                  </a:cubicBezTo>
                  <a:close/>
                </a:path>
              </a:pathLst>
            </a:custGeom>
            <a:solidFill>
              <a:srgbClr val="4C489E">
                <a:alpha val="2784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0453" cy="159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852396"/>
            <a:ext cx="7666207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LEARNING GOALS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8433" y="3626713"/>
            <a:ext cx="6111958" cy="703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6"/>
              </a:lnSpc>
            </a:pPr>
            <a:r>
              <a:rPr lang="en-US" sz="428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Learner Profile/Introduction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2998167"/>
            <a:ext cx="7744217" cy="5861128"/>
            <a:chOff x="0" y="0"/>
            <a:chExt cx="2039629" cy="1543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9629" cy="1543672"/>
            </a:xfrm>
            <a:custGeom>
              <a:avLst/>
              <a:gdLst/>
              <a:ahLst/>
              <a:cxnLst/>
              <a:rect r="r" b="b" t="t" l="l"/>
              <a:pathLst>
                <a:path h="1543672" w="2039629">
                  <a:moveTo>
                    <a:pt x="66980" y="0"/>
                  </a:moveTo>
                  <a:lnTo>
                    <a:pt x="1972649" y="0"/>
                  </a:lnTo>
                  <a:cubicBezTo>
                    <a:pt x="1990413" y="0"/>
                    <a:pt x="2007450" y="7057"/>
                    <a:pt x="2020011" y="19618"/>
                  </a:cubicBezTo>
                  <a:cubicBezTo>
                    <a:pt x="2032572" y="32179"/>
                    <a:pt x="2039629" y="49216"/>
                    <a:pt x="2039629" y="66980"/>
                  </a:cubicBezTo>
                  <a:lnTo>
                    <a:pt x="2039629" y="1476691"/>
                  </a:lnTo>
                  <a:cubicBezTo>
                    <a:pt x="2039629" y="1494456"/>
                    <a:pt x="2032572" y="1511492"/>
                    <a:pt x="2020011" y="1524054"/>
                  </a:cubicBezTo>
                  <a:cubicBezTo>
                    <a:pt x="2007450" y="1536615"/>
                    <a:pt x="1990413" y="1543672"/>
                    <a:pt x="1972649" y="1543672"/>
                  </a:cubicBezTo>
                  <a:lnTo>
                    <a:pt x="66980" y="1543672"/>
                  </a:lnTo>
                  <a:cubicBezTo>
                    <a:pt x="49216" y="1543672"/>
                    <a:pt x="32179" y="1536615"/>
                    <a:pt x="19618" y="1524054"/>
                  </a:cubicBezTo>
                  <a:cubicBezTo>
                    <a:pt x="7057" y="1511492"/>
                    <a:pt x="0" y="1494456"/>
                    <a:pt x="0" y="1476691"/>
                  </a:cubicBezTo>
                  <a:lnTo>
                    <a:pt x="0" y="66980"/>
                  </a:lnTo>
                  <a:cubicBezTo>
                    <a:pt x="0" y="49216"/>
                    <a:pt x="7057" y="32179"/>
                    <a:pt x="19618" y="19618"/>
                  </a:cubicBezTo>
                  <a:cubicBezTo>
                    <a:pt x="32179" y="7057"/>
                    <a:pt x="49216" y="0"/>
                    <a:pt x="66980" y="0"/>
                  </a:cubicBezTo>
                  <a:close/>
                </a:path>
              </a:pathLst>
            </a:custGeom>
            <a:solidFill>
              <a:srgbClr val="4C489E">
                <a:alpha val="35686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39629" cy="159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730483" y="3626713"/>
            <a:ext cx="6571251" cy="4248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2"/>
              </a:lnSpc>
            </a:pPr>
            <a:r>
              <a:rPr lang="en-US" sz="520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Learning Goals Describes what the learner wants to:</a:t>
            </a:r>
          </a:p>
          <a:p>
            <a:pPr algn="l" marL="1124677" indent="-562338" lvl="1">
              <a:lnSpc>
                <a:spcPts val="6772"/>
              </a:lnSpc>
              <a:buFont typeface="Arial"/>
              <a:buChar char="•"/>
            </a:pPr>
            <a:r>
              <a:rPr lang="en-US" sz="520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</a:t>
            </a:r>
          </a:p>
          <a:p>
            <a:pPr algn="l" marL="1124677" indent="-562338" lvl="1">
              <a:lnSpc>
                <a:spcPts val="6772"/>
              </a:lnSpc>
              <a:buFont typeface="Arial"/>
              <a:buChar char="•"/>
            </a:pPr>
            <a:r>
              <a:rPr lang="en-US" sz="520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Improve</a:t>
            </a:r>
          </a:p>
          <a:p>
            <a:pPr algn="l" marL="1124677" indent="-562338" lvl="1">
              <a:lnSpc>
                <a:spcPts val="6772"/>
              </a:lnSpc>
              <a:buFont typeface="Arial"/>
              <a:buChar char="•"/>
            </a:pPr>
            <a:r>
              <a:rPr lang="en-US" sz="520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Achieve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4633" y="4959157"/>
            <a:ext cx="5959558" cy="236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1"/>
              </a:lnSpc>
            </a:pPr>
            <a:r>
              <a:rPr lang="en-US" sz="482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Contains basic information about the learner.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6014263" y="6769491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26315"/>
            <a:ext cx="15102869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2. LEARNING OUTPUTS &amp;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9536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32440" y="8859295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9413" y="2998167"/>
            <a:ext cx="6949999" cy="5861128"/>
            <a:chOff x="0" y="0"/>
            <a:chExt cx="1830453" cy="1543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453" cy="1543672"/>
            </a:xfrm>
            <a:custGeom>
              <a:avLst/>
              <a:gdLst/>
              <a:ahLst/>
              <a:cxnLst/>
              <a:rect r="r" b="b" t="t" l="l"/>
              <a:pathLst>
                <a:path h="1543672" w="1830453">
                  <a:moveTo>
                    <a:pt x="74634" y="0"/>
                  </a:moveTo>
                  <a:lnTo>
                    <a:pt x="1755818" y="0"/>
                  </a:lnTo>
                  <a:cubicBezTo>
                    <a:pt x="1797038" y="0"/>
                    <a:pt x="1830453" y="33415"/>
                    <a:pt x="1830453" y="74634"/>
                  </a:cubicBezTo>
                  <a:lnTo>
                    <a:pt x="1830453" y="1469037"/>
                  </a:lnTo>
                  <a:cubicBezTo>
                    <a:pt x="1830453" y="1488832"/>
                    <a:pt x="1822589" y="1507815"/>
                    <a:pt x="1808593" y="1521812"/>
                  </a:cubicBezTo>
                  <a:cubicBezTo>
                    <a:pt x="1794596" y="1535808"/>
                    <a:pt x="1775613" y="1543672"/>
                    <a:pt x="1755818" y="1543672"/>
                  </a:cubicBezTo>
                  <a:lnTo>
                    <a:pt x="74634" y="1543672"/>
                  </a:lnTo>
                  <a:cubicBezTo>
                    <a:pt x="54840" y="1543672"/>
                    <a:pt x="35857" y="1535808"/>
                    <a:pt x="21860" y="1521812"/>
                  </a:cubicBezTo>
                  <a:cubicBezTo>
                    <a:pt x="7863" y="1507815"/>
                    <a:pt x="0" y="1488832"/>
                    <a:pt x="0" y="1469037"/>
                  </a:cubicBezTo>
                  <a:lnTo>
                    <a:pt x="0" y="74634"/>
                  </a:lnTo>
                  <a:cubicBezTo>
                    <a:pt x="0" y="54840"/>
                    <a:pt x="7863" y="35857"/>
                    <a:pt x="21860" y="21860"/>
                  </a:cubicBezTo>
                  <a:cubicBezTo>
                    <a:pt x="35857" y="7863"/>
                    <a:pt x="54840" y="0"/>
                    <a:pt x="74634" y="0"/>
                  </a:cubicBezTo>
                  <a:close/>
                </a:path>
              </a:pathLst>
            </a:custGeom>
            <a:solidFill>
              <a:srgbClr val="4C489E">
                <a:alpha val="2784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0453" cy="159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852396"/>
            <a:ext cx="7666207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P</a:t>
            </a: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ROJECTS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8433" y="3626713"/>
            <a:ext cx="6111958" cy="79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6"/>
              </a:lnSpc>
            </a:pPr>
            <a:r>
              <a:rPr lang="en-US" sz="488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Learning Outputs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2998167"/>
            <a:ext cx="7744217" cy="5861128"/>
            <a:chOff x="0" y="0"/>
            <a:chExt cx="2039629" cy="1543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9629" cy="1543672"/>
            </a:xfrm>
            <a:custGeom>
              <a:avLst/>
              <a:gdLst/>
              <a:ahLst/>
              <a:cxnLst/>
              <a:rect r="r" b="b" t="t" l="l"/>
              <a:pathLst>
                <a:path h="1543672" w="2039629">
                  <a:moveTo>
                    <a:pt x="66980" y="0"/>
                  </a:moveTo>
                  <a:lnTo>
                    <a:pt x="1972649" y="0"/>
                  </a:lnTo>
                  <a:cubicBezTo>
                    <a:pt x="1990413" y="0"/>
                    <a:pt x="2007450" y="7057"/>
                    <a:pt x="2020011" y="19618"/>
                  </a:cubicBezTo>
                  <a:cubicBezTo>
                    <a:pt x="2032572" y="32179"/>
                    <a:pt x="2039629" y="49216"/>
                    <a:pt x="2039629" y="66980"/>
                  </a:cubicBezTo>
                  <a:lnTo>
                    <a:pt x="2039629" y="1476691"/>
                  </a:lnTo>
                  <a:cubicBezTo>
                    <a:pt x="2039629" y="1494456"/>
                    <a:pt x="2032572" y="1511492"/>
                    <a:pt x="2020011" y="1524054"/>
                  </a:cubicBezTo>
                  <a:cubicBezTo>
                    <a:pt x="2007450" y="1536615"/>
                    <a:pt x="1990413" y="1543672"/>
                    <a:pt x="1972649" y="1543672"/>
                  </a:cubicBezTo>
                  <a:lnTo>
                    <a:pt x="66980" y="1543672"/>
                  </a:lnTo>
                  <a:cubicBezTo>
                    <a:pt x="49216" y="1543672"/>
                    <a:pt x="32179" y="1536615"/>
                    <a:pt x="19618" y="1524054"/>
                  </a:cubicBezTo>
                  <a:cubicBezTo>
                    <a:pt x="7057" y="1511492"/>
                    <a:pt x="0" y="1494456"/>
                    <a:pt x="0" y="1476691"/>
                  </a:cubicBezTo>
                  <a:lnTo>
                    <a:pt x="0" y="66980"/>
                  </a:lnTo>
                  <a:cubicBezTo>
                    <a:pt x="0" y="49216"/>
                    <a:pt x="7057" y="32179"/>
                    <a:pt x="19618" y="19618"/>
                  </a:cubicBezTo>
                  <a:cubicBezTo>
                    <a:pt x="32179" y="7057"/>
                    <a:pt x="49216" y="0"/>
                    <a:pt x="66980" y="0"/>
                  </a:cubicBezTo>
                  <a:close/>
                </a:path>
              </a:pathLst>
            </a:custGeom>
            <a:solidFill>
              <a:srgbClr val="4C489E">
                <a:alpha val="35686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39629" cy="159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28582" y="3636238"/>
            <a:ext cx="5575054" cy="71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4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Projects and Activities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8433" y="4514843"/>
            <a:ext cx="5903576" cy="3376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Assignments</a:t>
            </a:r>
          </a:p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Projects</a:t>
            </a:r>
          </a:p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Presentations</a:t>
            </a:r>
          </a:p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Activities</a:t>
            </a:r>
          </a:p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Other learning works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0483" y="4524719"/>
            <a:ext cx="6571251" cy="3420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2"/>
              </a:lnSpc>
            </a:pPr>
            <a:r>
              <a:rPr lang="en-US" sz="520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Show the learner’s participation and completed learning experiences.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6014263" y="6769491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26315"/>
            <a:ext cx="15102869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3. ACHIEVEMENTS &amp;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9536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32440" y="8859295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9413" y="2998167"/>
            <a:ext cx="6949999" cy="5861128"/>
            <a:chOff x="0" y="0"/>
            <a:chExt cx="1830453" cy="1543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453" cy="1543672"/>
            </a:xfrm>
            <a:custGeom>
              <a:avLst/>
              <a:gdLst/>
              <a:ahLst/>
              <a:cxnLst/>
              <a:rect r="r" b="b" t="t" l="l"/>
              <a:pathLst>
                <a:path h="1543672" w="1830453">
                  <a:moveTo>
                    <a:pt x="74634" y="0"/>
                  </a:moveTo>
                  <a:lnTo>
                    <a:pt x="1755818" y="0"/>
                  </a:lnTo>
                  <a:cubicBezTo>
                    <a:pt x="1797038" y="0"/>
                    <a:pt x="1830453" y="33415"/>
                    <a:pt x="1830453" y="74634"/>
                  </a:cubicBezTo>
                  <a:lnTo>
                    <a:pt x="1830453" y="1469037"/>
                  </a:lnTo>
                  <a:cubicBezTo>
                    <a:pt x="1830453" y="1488832"/>
                    <a:pt x="1822589" y="1507815"/>
                    <a:pt x="1808593" y="1521812"/>
                  </a:cubicBezTo>
                  <a:cubicBezTo>
                    <a:pt x="1794596" y="1535808"/>
                    <a:pt x="1775613" y="1543672"/>
                    <a:pt x="1755818" y="1543672"/>
                  </a:cubicBezTo>
                  <a:lnTo>
                    <a:pt x="74634" y="1543672"/>
                  </a:lnTo>
                  <a:cubicBezTo>
                    <a:pt x="54840" y="1543672"/>
                    <a:pt x="35857" y="1535808"/>
                    <a:pt x="21860" y="1521812"/>
                  </a:cubicBezTo>
                  <a:cubicBezTo>
                    <a:pt x="7863" y="1507815"/>
                    <a:pt x="0" y="1488832"/>
                    <a:pt x="0" y="1469037"/>
                  </a:cubicBezTo>
                  <a:lnTo>
                    <a:pt x="0" y="74634"/>
                  </a:lnTo>
                  <a:cubicBezTo>
                    <a:pt x="0" y="54840"/>
                    <a:pt x="7863" y="35857"/>
                    <a:pt x="21860" y="21860"/>
                  </a:cubicBezTo>
                  <a:cubicBezTo>
                    <a:pt x="35857" y="7863"/>
                    <a:pt x="54840" y="0"/>
                    <a:pt x="74634" y="0"/>
                  </a:cubicBezTo>
                  <a:close/>
                </a:path>
              </a:pathLst>
            </a:custGeom>
            <a:solidFill>
              <a:srgbClr val="4C489E">
                <a:alpha val="2784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0453" cy="159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852396"/>
            <a:ext cx="9254643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MULTIMEDIA EVID</a:t>
            </a: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8433" y="3626713"/>
            <a:ext cx="6111958" cy="79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6"/>
              </a:lnSpc>
            </a:pPr>
            <a:r>
              <a:rPr lang="en-US" sz="488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Achi</a:t>
            </a:r>
            <a:r>
              <a:rPr lang="en-US" sz="488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evements/Certificates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2998167"/>
            <a:ext cx="7744217" cy="5861128"/>
            <a:chOff x="0" y="0"/>
            <a:chExt cx="2039629" cy="1543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9629" cy="1543672"/>
            </a:xfrm>
            <a:custGeom>
              <a:avLst/>
              <a:gdLst/>
              <a:ahLst/>
              <a:cxnLst/>
              <a:rect r="r" b="b" t="t" l="l"/>
              <a:pathLst>
                <a:path h="1543672" w="2039629">
                  <a:moveTo>
                    <a:pt x="66980" y="0"/>
                  </a:moveTo>
                  <a:lnTo>
                    <a:pt x="1972649" y="0"/>
                  </a:lnTo>
                  <a:cubicBezTo>
                    <a:pt x="1990413" y="0"/>
                    <a:pt x="2007450" y="7057"/>
                    <a:pt x="2020011" y="19618"/>
                  </a:cubicBezTo>
                  <a:cubicBezTo>
                    <a:pt x="2032572" y="32179"/>
                    <a:pt x="2039629" y="49216"/>
                    <a:pt x="2039629" y="66980"/>
                  </a:cubicBezTo>
                  <a:lnTo>
                    <a:pt x="2039629" y="1476691"/>
                  </a:lnTo>
                  <a:cubicBezTo>
                    <a:pt x="2039629" y="1494456"/>
                    <a:pt x="2032572" y="1511492"/>
                    <a:pt x="2020011" y="1524054"/>
                  </a:cubicBezTo>
                  <a:cubicBezTo>
                    <a:pt x="2007450" y="1536615"/>
                    <a:pt x="1990413" y="1543672"/>
                    <a:pt x="1972649" y="1543672"/>
                  </a:cubicBezTo>
                  <a:lnTo>
                    <a:pt x="66980" y="1543672"/>
                  </a:lnTo>
                  <a:cubicBezTo>
                    <a:pt x="49216" y="1543672"/>
                    <a:pt x="32179" y="1536615"/>
                    <a:pt x="19618" y="1524054"/>
                  </a:cubicBezTo>
                  <a:cubicBezTo>
                    <a:pt x="7057" y="1511492"/>
                    <a:pt x="0" y="1494456"/>
                    <a:pt x="0" y="1476691"/>
                  </a:cubicBezTo>
                  <a:lnTo>
                    <a:pt x="0" y="66980"/>
                  </a:lnTo>
                  <a:cubicBezTo>
                    <a:pt x="0" y="49216"/>
                    <a:pt x="7057" y="32179"/>
                    <a:pt x="19618" y="19618"/>
                  </a:cubicBezTo>
                  <a:cubicBezTo>
                    <a:pt x="32179" y="7057"/>
                    <a:pt x="49216" y="0"/>
                    <a:pt x="66980" y="0"/>
                  </a:cubicBezTo>
                  <a:close/>
                </a:path>
              </a:pathLst>
            </a:custGeom>
            <a:solidFill>
              <a:srgbClr val="4C489E">
                <a:alpha val="35686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39629" cy="159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28582" y="3636238"/>
            <a:ext cx="5575054" cy="71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44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Multimedia Evidence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8433" y="4514843"/>
            <a:ext cx="5903576" cy="270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Certifi</a:t>
            </a: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cates</a:t>
            </a:r>
          </a:p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Awa</a:t>
            </a: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rds</a:t>
            </a:r>
          </a:p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Recognitions</a:t>
            </a:r>
          </a:p>
          <a:p>
            <a:pPr algn="l" marL="889762" indent="-444881" lvl="1">
              <a:lnSpc>
                <a:spcPts val="5357"/>
              </a:lnSpc>
              <a:buFont typeface="Arial"/>
              <a:buChar char="•"/>
            </a:pPr>
            <a:r>
              <a:rPr lang="en-US" sz="412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Accomplishments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30483" y="4534244"/>
            <a:ext cx="6571251" cy="2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Photographs</a:t>
            </a:r>
          </a:p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Videos</a:t>
            </a:r>
          </a:p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Presentations</a:t>
            </a:r>
          </a:p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Other digital materials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3561422" y="5173956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04701" y="6789856"/>
            <a:ext cx="1216033" cy="2468444"/>
          </a:xfrm>
          <a:custGeom>
            <a:avLst/>
            <a:gdLst/>
            <a:ahLst/>
            <a:cxnLst/>
            <a:rect r="r" b="b" t="t" l="l"/>
            <a:pathLst>
              <a:path h="2468444" w="1216033">
                <a:moveTo>
                  <a:pt x="0" y="0"/>
                </a:moveTo>
                <a:lnTo>
                  <a:pt x="1216033" y="0"/>
                </a:lnTo>
                <a:lnTo>
                  <a:pt x="1216033" y="2468444"/>
                </a:lnTo>
                <a:lnTo>
                  <a:pt x="0" y="2468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16014263" y="6769491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2490074" y="0"/>
                </a:moveTo>
                <a:lnTo>
                  <a:pt x="0" y="0"/>
                </a:lnTo>
                <a:lnTo>
                  <a:pt x="0" y="5054639"/>
                </a:lnTo>
                <a:lnTo>
                  <a:pt x="2490074" y="5054639"/>
                </a:lnTo>
                <a:lnTo>
                  <a:pt x="249007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171694">
            <a:off x="11249471" y="-3887171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726315"/>
            <a:ext cx="15102869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4. FEEDBACK &amp;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979536" y="169619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3"/>
                </a:lnTo>
                <a:lnTo>
                  <a:pt x="0" y="2402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32440" y="8859295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79413" y="2998167"/>
            <a:ext cx="6949999" cy="5861128"/>
            <a:chOff x="0" y="0"/>
            <a:chExt cx="1830453" cy="1543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0453" cy="1543672"/>
            </a:xfrm>
            <a:custGeom>
              <a:avLst/>
              <a:gdLst/>
              <a:ahLst/>
              <a:cxnLst/>
              <a:rect r="r" b="b" t="t" l="l"/>
              <a:pathLst>
                <a:path h="1543672" w="1830453">
                  <a:moveTo>
                    <a:pt x="74634" y="0"/>
                  </a:moveTo>
                  <a:lnTo>
                    <a:pt x="1755818" y="0"/>
                  </a:lnTo>
                  <a:cubicBezTo>
                    <a:pt x="1797038" y="0"/>
                    <a:pt x="1830453" y="33415"/>
                    <a:pt x="1830453" y="74634"/>
                  </a:cubicBezTo>
                  <a:lnTo>
                    <a:pt x="1830453" y="1469037"/>
                  </a:lnTo>
                  <a:cubicBezTo>
                    <a:pt x="1830453" y="1488832"/>
                    <a:pt x="1822589" y="1507815"/>
                    <a:pt x="1808593" y="1521812"/>
                  </a:cubicBezTo>
                  <a:cubicBezTo>
                    <a:pt x="1794596" y="1535808"/>
                    <a:pt x="1775613" y="1543672"/>
                    <a:pt x="1755818" y="1543672"/>
                  </a:cubicBezTo>
                  <a:lnTo>
                    <a:pt x="74634" y="1543672"/>
                  </a:lnTo>
                  <a:cubicBezTo>
                    <a:pt x="54840" y="1543672"/>
                    <a:pt x="35857" y="1535808"/>
                    <a:pt x="21860" y="1521812"/>
                  </a:cubicBezTo>
                  <a:cubicBezTo>
                    <a:pt x="7863" y="1507815"/>
                    <a:pt x="0" y="1488832"/>
                    <a:pt x="0" y="1469037"/>
                  </a:cubicBezTo>
                  <a:lnTo>
                    <a:pt x="0" y="74634"/>
                  </a:lnTo>
                  <a:cubicBezTo>
                    <a:pt x="0" y="54840"/>
                    <a:pt x="7863" y="35857"/>
                    <a:pt x="21860" y="21860"/>
                  </a:cubicBezTo>
                  <a:cubicBezTo>
                    <a:pt x="35857" y="7863"/>
                    <a:pt x="54840" y="0"/>
                    <a:pt x="74634" y="0"/>
                  </a:cubicBezTo>
                  <a:close/>
                </a:path>
              </a:pathLst>
            </a:custGeom>
            <a:solidFill>
              <a:srgbClr val="4C489E">
                <a:alpha val="27843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30453" cy="159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852396"/>
            <a:ext cx="9254643" cy="1145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3"/>
              </a:lnSpc>
            </a:pP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REFLECTIO</a:t>
            </a:r>
            <a:r>
              <a:rPr lang="en-US" sz="8684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8433" y="3626713"/>
            <a:ext cx="6111958" cy="79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6"/>
              </a:lnSpc>
            </a:pPr>
            <a:r>
              <a:rPr lang="en-US" sz="488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FEEDBACK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144000" y="2998167"/>
            <a:ext cx="7744217" cy="5861128"/>
            <a:chOff x="0" y="0"/>
            <a:chExt cx="2039629" cy="1543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9629" cy="1543672"/>
            </a:xfrm>
            <a:custGeom>
              <a:avLst/>
              <a:gdLst/>
              <a:ahLst/>
              <a:cxnLst/>
              <a:rect r="r" b="b" t="t" l="l"/>
              <a:pathLst>
                <a:path h="1543672" w="2039629">
                  <a:moveTo>
                    <a:pt x="66980" y="0"/>
                  </a:moveTo>
                  <a:lnTo>
                    <a:pt x="1972649" y="0"/>
                  </a:lnTo>
                  <a:cubicBezTo>
                    <a:pt x="1990413" y="0"/>
                    <a:pt x="2007450" y="7057"/>
                    <a:pt x="2020011" y="19618"/>
                  </a:cubicBezTo>
                  <a:cubicBezTo>
                    <a:pt x="2032572" y="32179"/>
                    <a:pt x="2039629" y="49216"/>
                    <a:pt x="2039629" y="66980"/>
                  </a:cubicBezTo>
                  <a:lnTo>
                    <a:pt x="2039629" y="1476691"/>
                  </a:lnTo>
                  <a:cubicBezTo>
                    <a:pt x="2039629" y="1494456"/>
                    <a:pt x="2032572" y="1511492"/>
                    <a:pt x="2020011" y="1524054"/>
                  </a:cubicBezTo>
                  <a:cubicBezTo>
                    <a:pt x="2007450" y="1536615"/>
                    <a:pt x="1990413" y="1543672"/>
                    <a:pt x="1972649" y="1543672"/>
                  </a:cubicBezTo>
                  <a:lnTo>
                    <a:pt x="66980" y="1543672"/>
                  </a:lnTo>
                  <a:cubicBezTo>
                    <a:pt x="49216" y="1543672"/>
                    <a:pt x="32179" y="1536615"/>
                    <a:pt x="19618" y="1524054"/>
                  </a:cubicBezTo>
                  <a:cubicBezTo>
                    <a:pt x="7057" y="1511492"/>
                    <a:pt x="0" y="1494456"/>
                    <a:pt x="0" y="1476691"/>
                  </a:cubicBezTo>
                  <a:lnTo>
                    <a:pt x="0" y="66980"/>
                  </a:lnTo>
                  <a:cubicBezTo>
                    <a:pt x="0" y="49216"/>
                    <a:pt x="7057" y="32179"/>
                    <a:pt x="19618" y="19618"/>
                  </a:cubicBezTo>
                  <a:cubicBezTo>
                    <a:pt x="32179" y="7057"/>
                    <a:pt x="49216" y="0"/>
                    <a:pt x="66980" y="0"/>
                  </a:cubicBezTo>
                  <a:close/>
                </a:path>
              </a:pathLst>
            </a:custGeom>
            <a:solidFill>
              <a:srgbClr val="4C489E">
                <a:alpha val="35686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39629" cy="1591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28582" y="3636238"/>
            <a:ext cx="5575054" cy="71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5"/>
              </a:lnSpc>
            </a:pPr>
            <a:r>
              <a:rPr lang="en-US" sz="44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REFLECTION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8433" y="4524368"/>
            <a:ext cx="6219416" cy="360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2"/>
              </a:lnSpc>
            </a:pPr>
            <a:r>
              <a:rPr lang="en-US" sz="442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</a:t>
            </a:r>
            <a:r>
              <a:rPr lang="en-US" sz="442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cludes comments or evaluations from:</a:t>
            </a:r>
          </a:p>
          <a:p>
            <a:pPr algn="l" marL="955288" indent="-477644" lvl="1">
              <a:lnSpc>
                <a:spcPts val="5752"/>
              </a:lnSpc>
              <a:buFont typeface="Arial"/>
              <a:buChar char="•"/>
            </a:pPr>
            <a:r>
              <a:rPr lang="en-US" sz="442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Tea</a:t>
            </a:r>
            <a:r>
              <a:rPr lang="en-US" sz="442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chers</a:t>
            </a:r>
          </a:p>
          <a:p>
            <a:pPr algn="l" marL="955288" indent="-477644" lvl="1">
              <a:lnSpc>
                <a:spcPts val="5752"/>
              </a:lnSpc>
              <a:buFont typeface="Arial"/>
              <a:buChar char="•"/>
            </a:pPr>
            <a:r>
              <a:rPr lang="en-US" sz="442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Peers</a:t>
            </a:r>
          </a:p>
          <a:p>
            <a:pPr algn="ctr">
              <a:lnSpc>
                <a:spcPts val="5752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730483" y="4534244"/>
            <a:ext cx="6571251" cy="273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Learners discuss:</a:t>
            </a:r>
          </a:p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</a:t>
            </a: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at they learned</a:t>
            </a:r>
          </a:p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Challenges they encountered</a:t>
            </a:r>
          </a:p>
          <a:p>
            <a:pPr algn="l" marL="906780" indent="-453390" lvl="1">
              <a:lnSpc>
                <a:spcPts val="546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Areas for improvement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864831">
            <a:off x="-4568671" y="3075263"/>
            <a:ext cx="21822962" cy="7261095"/>
          </a:xfrm>
          <a:custGeom>
            <a:avLst/>
            <a:gdLst/>
            <a:ahLst/>
            <a:cxnLst/>
            <a:rect r="r" b="b" t="t" l="l"/>
            <a:pathLst>
              <a:path h="7261095" w="21822962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171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86279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1608" y="551614"/>
            <a:ext cx="8008386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EPORTFOLIO AS AN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2972163" y="-4028288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1073490" y="9486900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6266" y="1459312"/>
            <a:ext cx="6419071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 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ASSESSMENT TOOL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534" y="2626788"/>
            <a:ext cx="14632692" cy="686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8"/>
              </a:lnSpc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 ePortfolio is not simply a place to store school works.</a:t>
            </a:r>
          </a:p>
          <a:p>
            <a:pPr algn="l">
              <a:lnSpc>
                <a:spcPts val="5468"/>
              </a:lnSpc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It can also be used as an assessment tool.</a:t>
            </a:r>
          </a:p>
          <a:p>
            <a:pPr algn="l">
              <a:lnSpc>
                <a:spcPts val="5468"/>
              </a:lnSpc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Teachers can examine:</a:t>
            </a:r>
          </a:p>
          <a:p>
            <a:pPr algn="l" marL="908190" indent="-454095" lvl="1">
              <a:lnSpc>
                <a:spcPts val="5468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Learning outputs</a:t>
            </a:r>
          </a:p>
          <a:p>
            <a:pPr algn="l" marL="908190" indent="-454095" lvl="1">
              <a:lnSpc>
                <a:spcPts val="5468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Learning progress</a:t>
            </a:r>
          </a:p>
          <a:p>
            <a:pPr algn="l" marL="908190" indent="-454095" lvl="1">
              <a:lnSpc>
                <a:spcPts val="5468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Skills</a:t>
            </a:r>
          </a:p>
          <a:p>
            <a:pPr algn="l" marL="908190" indent="-454095" lvl="1">
              <a:lnSpc>
                <a:spcPts val="5468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Competencies</a:t>
            </a:r>
          </a:p>
          <a:p>
            <a:pPr algn="l" marL="908190" indent="-454095" lvl="1">
              <a:lnSpc>
                <a:spcPts val="5468"/>
              </a:lnSpc>
              <a:buFont typeface="Arial"/>
              <a:buChar char="•"/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Reflections</a:t>
            </a:r>
          </a:p>
          <a:p>
            <a:pPr algn="l">
              <a:lnSpc>
                <a:spcPts val="5468"/>
              </a:lnSpc>
            </a:pPr>
            <a:r>
              <a:rPr lang="en-US" sz="4206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This allows teachers to see what the learner produced, how the learner improved, and what the learner learned.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864831">
            <a:off x="-4568671" y="3075263"/>
            <a:ext cx="21822962" cy="7261095"/>
          </a:xfrm>
          <a:custGeom>
            <a:avLst/>
            <a:gdLst/>
            <a:ahLst/>
            <a:cxnLst/>
            <a:rect r="r" b="b" t="t" l="l"/>
            <a:pathLst>
              <a:path h="7261095" w="21822962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171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86279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1608" y="551614"/>
            <a:ext cx="8008386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WHY USE ePORTFOLIO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2972163" y="-4028288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1073490" y="9486900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6266" y="1459312"/>
            <a:ext cx="6419071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FOR 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ASSESSMENT?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9595" y="2910114"/>
            <a:ext cx="13852412" cy="5987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3"/>
              </a:lnSpc>
            </a:pPr>
            <a:r>
              <a:rPr lang="en-US" sz="524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 ePortfolio helps teachers:</a:t>
            </a:r>
          </a:p>
          <a:p>
            <a:pPr algn="l" marL="1133266" indent="-566633" lvl="1">
              <a:lnSpc>
                <a:spcPts val="6823"/>
              </a:lnSpc>
              <a:buFont typeface="Arial"/>
              <a:buChar char="•"/>
            </a:pPr>
            <a:r>
              <a:rPr lang="en-US" sz="524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Evaluate learning evidence</a:t>
            </a:r>
          </a:p>
          <a:p>
            <a:pPr algn="l" marL="1133266" indent="-566633" lvl="1">
              <a:lnSpc>
                <a:spcPts val="6823"/>
              </a:lnSpc>
              <a:buFont typeface="Arial"/>
              <a:buChar char="•"/>
            </a:pPr>
            <a:r>
              <a:rPr lang="en-US" sz="524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Monitor progress</a:t>
            </a:r>
          </a:p>
          <a:p>
            <a:pPr algn="l" marL="1133266" indent="-566633" lvl="1">
              <a:lnSpc>
                <a:spcPts val="6823"/>
              </a:lnSpc>
              <a:buFont typeface="Arial"/>
              <a:buChar char="•"/>
            </a:pPr>
            <a:r>
              <a:rPr lang="en-US" sz="524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Identify s</a:t>
            </a:r>
            <a:r>
              <a:rPr lang="en-US" sz="524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kills and competencies</a:t>
            </a:r>
          </a:p>
          <a:p>
            <a:pPr algn="l" marL="1133266" indent="-566633" lvl="1">
              <a:lnSpc>
                <a:spcPts val="6823"/>
              </a:lnSpc>
              <a:buFont typeface="Arial"/>
              <a:buChar char="•"/>
            </a:pPr>
            <a:r>
              <a:rPr lang="en-US" sz="524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Review learner outputs</a:t>
            </a:r>
          </a:p>
          <a:p>
            <a:pPr algn="l" marL="1133266" indent="-566633" lvl="1">
              <a:lnSpc>
                <a:spcPts val="6823"/>
              </a:lnSpc>
              <a:buFont typeface="Arial"/>
              <a:buChar char="•"/>
            </a:pPr>
            <a:r>
              <a:rPr lang="en-US" sz="524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Understand learners’ reflections</a:t>
            </a:r>
          </a:p>
          <a:p>
            <a:pPr algn="l" marL="1133266" indent="-566633" lvl="1">
              <a:lnSpc>
                <a:spcPts val="6823"/>
              </a:lnSpc>
              <a:buFont typeface="Arial"/>
              <a:buChar char="•"/>
            </a:pPr>
            <a:r>
              <a:rPr lang="en-US" sz="524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Observe improvement over time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864831">
            <a:off x="-4568671" y="3075263"/>
            <a:ext cx="21822962" cy="7261095"/>
          </a:xfrm>
          <a:custGeom>
            <a:avLst/>
            <a:gdLst/>
            <a:ahLst/>
            <a:cxnLst/>
            <a:rect r="r" b="b" t="t" l="l"/>
            <a:pathLst>
              <a:path h="7261095" w="21822962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171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86279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1608" y="551614"/>
            <a:ext cx="8008386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ADVANTAGES OF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2972163" y="-4028288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1073490" y="9486900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6266" y="1459312"/>
            <a:ext cx="6419071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TFOLIO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9595" y="2910114"/>
            <a:ext cx="15419705" cy="662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1. Easy to Organize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Learning materials can be stored in one </a:t>
            </a: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digital location.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2. Access</a:t>
            </a: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ible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Materials can be accessed using appropriate digital devices.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3. Sho</a:t>
            </a: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ws Progress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Learners can compare previous and current work.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4. Encourages Reflection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Student</a:t>
            </a: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 can think about their learning experiences.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864831">
            <a:off x="-4568671" y="3075263"/>
            <a:ext cx="21822962" cy="7261095"/>
          </a:xfrm>
          <a:custGeom>
            <a:avLst/>
            <a:gdLst/>
            <a:ahLst/>
            <a:cxnLst/>
            <a:rect r="r" b="b" t="t" l="l"/>
            <a:pathLst>
              <a:path h="7261095" w="21822962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171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86279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1608" y="551614"/>
            <a:ext cx="8008386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MORE ADVANTAGES OF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2972163" y="-4028288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1073490" y="9486900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6266" y="1459312"/>
            <a:ext cx="6419071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TFOLIO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9595" y="2910114"/>
            <a:ext cx="15419705" cy="662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5. Demonstrates Skills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Learners can showcase their abilities and accomplishments.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6. Supports D</a:t>
            </a: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igital Learning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It</a:t>
            </a: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develops </a:t>
            </a: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learners’ ability to use technology responsibly.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7. Provides Evidence</a:t>
            </a: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 fo</a:t>
            </a: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r Assessment</a:t>
            </a:r>
          </a:p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Teachers can use collected outputs and reflections to evaluate learning.</a:t>
            </a:r>
          </a:p>
          <a:p>
            <a:pPr algn="l">
              <a:lnSpc>
                <a:spcPts val="6554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864831">
            <a:off x="-4568671" y="3075263"/>
            <a:ext cx="21822962" cy="7261095"/>
          </a:xfrm>
          <a:custGeom>
            <a:avLst/>
            <a:gdLst/>
            <a:ahLst/>
            <a:cxnLst/>
            <a:rect r="r" b="b" t="t" l="l"/>
            <a:pathLst>
              <a:path h="7261095" w="21822962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171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86279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61608" y="551614"/>
            <a:ext cx="8008386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CHALLENGES OF USING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10800000">
            <a:off x="12972163" y="-4028288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-1073490" y="9486900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56266" y="1459312"/>
            <a:ext cx="6419071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TFOLIO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9595" y="2910114"/>
            <a:ext cx="15419705" cy="6622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4"/>
              </a:lnSpc>
            </a:pPr>
            <a:r>
              <a:rPr lang="en-US" sz="5041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Possible challenges include:</a:t>
            </a:r>
          </a:p>
          <a:p>
            <a:pPr algn="l" marL="1088541" indent="-544270" lvl="1">
              <a:lnSpc>
                <a:spcPts val="6554"/>
              </a:lnSpc>
              <a:buFont typeface="Arial"/>
              <a:buChar char="•"/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Limited access to devices or internet</a:t>
            </a:r>
          </a:p>
          <a:p>
            <a:pPr algn="l" marL="1088541" indent="-544270" lvl="1">
              <a:lnSpc>
                <a:spcPts val="6554"/>
              </a:lnSpc>
              <a:buFont typeface="Arial"/>
              <a:buChar char="•"/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Lack of d</a:t>
            </a: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igital skil</a:t>
            </a: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ls</a:t>
            </a:r>
          </a:p>
          <a:p>
            <a:pPr algn="l" marL="1088541" indent="-544270" lvl="1">
              <a:lnSpc>
                <a:spcPts val="6554"/>
              </a:lnSpc>
              <a:buFont typeface="Arial"/>
              <a:buChar char="•"/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Difficulty organizing large amounts of in</a:t>
            </a: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fo</a:t>
            </a: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rmation</a:t>
            </a:r>
          </a:p>
          <a:p>
            <a:pPr algn="l" marL="1088541" indent="-544270" lvl="1">
              <a:lnSpc>
                <a:spcPts val="6554"/>
              </a:lnSpc>
              <a:buFont typeface="Arial"/>
              <a:buChar char="•"/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Time required to create and maintain the portfolio</a:t>
            </a:r>
          </a:p>
          <a:p>
            <a:pPr algn="l" marL="1088541" indent="-544270" lvl="1">
              <a:lnSpc>
                <a:spcPts val="6554"/>
              </a:lnSpc>
              <a:buFont typeface="Arial"/>
              <a:buChar char="•"/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Privacy and security concerns</a:t>
            </a:r>
          </a:p>
          <a:p>
            <a:pPr algn="l" marL="1088541" indent="-544270" lvl="1">
              <a:lnSpc>
                <a:spcPts val="6554"/>
              </a:lnSpc>
              <a:buFont typeface="Arial"/>
              <a:buChar char="•"/>
            </a:pPr>
            <a:r>
              <a:rPr lang="en-US" sz="5041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Technical problems</a:t>
            </a:r>
          </a:p>
          <a:p>
            <a:pPr algn="l">
              <a:lnSpc>
                <a:spcPts val="6554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864831">
            <a:off x="-4568671" y="3075263"/>
            <a:ext cx="21822962" cy="7261095"/>
          </a:xfrm>
          <a:custGeom>
            <a:avLst/>
            <a:gdLst/>
            <a:ahLst/>
            <a:cxnLst/>
            <a:rect r="r" b="b" t="t" l="l"/>
            <a:pathLst>
              <a:path h="7261095" w="21822962">
                <a:moveTo>
                  <a:pt x="21822962" y="0"/>
                </a:moveTo>
                <a:lnTo>
                  <a:pt x="0" y="0"/>
                </a:lnTo>
                <a:lnTo>
                  <a:pt x="0" y="7261095"/>
                </a:lnTo>
                <a:lnTo>
                  <a:pt x="21822962" y="7261095"/>
                </a:lnTo>
                <a:lnTo>
                  <a:pt x="21822962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055059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1675621" y="0"/>
                </a:moveTo>
                <a:lnTo>
                  <a:pt x="0" y="0"/>
                </a:lnTo>
                <a:lnTo>
                  <a:pt x="0" y="3401366"/>
                </a:lnTo>
                <a:lnTo>
                  <a:pt x="1675621" y="3401366"/>
                </a:lnTo>
                <a:lnTo>
                  <a:pt x="167562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921" y="1028700"/>
            <a:ext cx="1675621" cy="3401366"/>
          </a:xfrm>
          <a:custGeom>
            <a:avLst/>
            <a:gdLst/>
            <a:ahLst/>
            <a:cxnLst/>
            <a:rect r="r" b="b" t="t" l="l"/>
            <a:pathLst>
              <a:path h="3401366" w="1675621">
                <a:moveTo>
                  <a:pt x="0" y="0"/>
                </a:moveTo>
                <a:lnTo>
                  <a:pt x="1675621" y="0"/>
                </a:lnTo>
                <a:lnTo>
                  <a:pt x="1675621" y="3401366"/>
                </a:lnTo>
                <a:lnTo>
                  <a:pt x="0" y="340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54171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86279" y="1192771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0" y="0"/>
                </a:lnTo>
                <a:lnTo>
                  <a:pt x="1647550" y="200702"/>
                </a:lnTo>
                <a:lnTo>
                  <a:pt x="0" y="200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2972163" y="-4028288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-1073490" y="9486900"/>
            <a:ext cx="5211566" cy="5221059"/>
          </a:xfrm>
          <a:custGeom>
            <a:avLst/>
            <a:gdLst/>
            <a:ahLst/>
            <a:cxnLst/>
            <a:rect r="r" b="b" t="t" l="l"/>
            <a:pathLst>
              <a:path h="5221059" w="5211566">
                <a:moveTo>
                  <a:pt x="0" y="0"/>
                </a:moveTo>
                <a:lnTo>
                  <a:pt x="5211566" y="0"/>
                </a:lnTo>
                <a:lnTo>
                  <a:pt x="5211566" y="5221059"/>
                </a:lnTo>
                <a:lnTo>
                  <a:pt x="0" y="52210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7458497" y="2806622"/>
          <a:ext cx="3771900" cy="4400550"/>
        </p:xfrm>
        <a:graphic>
          <a:graphicData uri="http://schemas.openxmlformats.org/presentationml/2006/ole">
            <p:oleObj imgW="4648200" imgH="52705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4761608" y="551614"/>
            <a:ext cx="8008386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TRADITIONAL PORTFOLIO VS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56266" y="1459312"/>
            <a:ext cx="6419071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TFOLIO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360" y="4109869"/>
            <a:ext cx="6406418" cy="347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1"/>
              </a:lnSpc>
            </a:pPr>
            <a:r>
              <a:rPr lang="en-US" sz="55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 ePortfolio uses digital technology to create, organize, store, and present learning evidence.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59737">
            <a:off x="3121357" y="4914121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39008" y="7391920"/>
            <a:ext cx="2220593" cy="4507614"/>
          </a:xfrm>
          <a:custGeom>
            <a:avLst/>
            <a:gdLst/>
            <a:ahLst/>
            <a:cxnLst/>
            <a:rect r="r" b="b" t="t" l="l"/>
            <a:pathLst>
              <a:path h="4507614" w="2220593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-279147" y="-1633942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79818" y="1171575"/>
            <a:ext cx="6179482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ACTIVITY 1: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70083" y="2079273"/>
            <a:ext cx="13689217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“TR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ADITIONAL OR ELECTRONIC?”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5025" y="3012984"/>
            <a:ext cx="15734275" cy="591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8"/>
              </a:lnSpc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Instructions:</a:t>
            </a:r>
          </a:p>
          <a:p>
            <a:pPr algn="l">
              <a:lnSpc>
                <a:spcPts val="5238"/>
              </a:lnSpc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Identify wh</a:t>
            </a: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ether each situation describes a </a:t>
            </a:r>
            <a:r>
              <a:rPr lang="en-US" sz="402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Traditional Portfolio </a:t>
            </a: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or an </a:t>
            </a:r>
            <a:r>
              <a:rPr lang="en-US" sz="402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ePortfolio.</a:t>
            </a:r>
          </a:p>
          <a:p>
            <a:pPr algn="l">
              <a:lnSpc>
                <a:spcPts val="5238"/>
              </a:lnSpc>
            </a:pPr>
          </a:p>
          <a:p>
            <a:pPr algn="l" marL="870047" indent="-435024" lvl="1">
              <a:lnSpc>
                <a:spcPts val="5238"/>
              </a:lnSpc>
              <a:buAutoNum type="arabicPeriod" startAt="1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 student keeps printed projects inside a folder.</a:t>
            </a:r>
          </a:p>
          <a:p>
            <a:pPr algn="l" marL="870047" indent="-435024" lvl="1">
              <a:lnSpc>
                <a:spcPts val="5238"/>
              </a:lnSpc>
              <a:buAutoNum type="arabicPeriod" startAt="1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 student uploads projects, videos, and reflections to a digital platform.</a:t>
            </a:r>
          </a:p>
          <a:p>
            <a:pPr algn="l" marL="870047" indent="-435024" lvl="1">
              <a:lnSpc>
                <a:spcPts val="5238"/>
              </a:lnSpc>
              <a:buAutoNum type="arabicPeriod" startAt="1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 teacher reviews printed artwork collected by a student.</a:t>
            </a:r>
          </a:p>
          <a:p>
            <a:pPr algn="l" marL="870047" indent="-435024" lvl="1">
              <a:lnSpc>
                <a:spcPts val="5238"/>
              </a:lnSpc>
              <a:buAutoNum type="arabicPeriod" startAt="1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 student creates a digital collection of certificates and achievements.</a:t>
            </a:r>
          </a:p>
          <a:p>
            <a:pPr algn="l" marL="870047" indent="-435024" lvl="1">
              <a:lnSpc>
                <a:spcPts val="5238"/>
              </a:lnSpc>
              <a:buAutoNum type="arabicPeriod" startAt="1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 learner uploads a reflection about a completed project.</a:t>
            </a:r>
          </a:p>
          <a:p>
            <a:pPr algn="l">
              <a:lnSpc>
                <a:spcPts val="523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8767760"/>
            <a:ext cx="4726694" cy="490540"/>
            <a:chOff x="0" y="0"/>
            <a:chExt cx="391594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5504136" y="-4573010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42476" y="868277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59737">
            <a:off x="3121357" y="4914121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39008" y="7391920"/>
            <a:ext cx="2220593" cy="4507614"/>
          </a:xfrm>
          <a:custGeom>
            <a:avLst/>
            <a:gdLst/>
            <a:ahLst/>
            <a:cxnLst/>
            <a:rect r="r" b="b" t="t" l="l"/>
            <a:pathLst>
              <a:path h="4507614" w="2220593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-279147" y="-1633942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60116" y="1834253"/>
            <a:ext cx="8020410" cy="7178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2"/>
              </a:lnSpc>
            </a:pPr>
            <a:r>
              <a:rPr lang="en-US" sz="6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ACTIVITY 1:</a:t>
            </a:r>
            <a:r>
              <a:rPr lang="en-US" sz="6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ANSWERS</a:t>
            </a:r>
          </a:p>
          <a:p>
            <a:pPr algn="l" marL="1353894" indent="-676947" lvl="1">
              <a:lnSpc>
                <a:spcPts val="8152"/>
              </a:lnSpc>
              <a:buAutoNum type="arabicPeriod" startAt="1"/>
            </a:pPr>
            <a:r>
              <a:rPr lang="en-US" sz="6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Traditional Portfolio</a:t>
            </a:r>
          </a:p>
          <a:p>
            <a:pPr algn="l" marL="1353894" indent="-676947" lvl="1">
              <a:lnSpc>
                <a:spcPts val="8152"/>
              </a:lnSpc>
              <a:buAutoNum type="arabicPeriod" startAt="1"/>
            </a:pPr>
            <a:r>
              <a:rPr lang="en-US" sz="6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  <a:p>
            <a:pPr algn="l" marL="1353894" indent="-676947" lvl="1">
              <a:lnSpc>
                <a:spcPts val="8152"/>
              </a:lnSpc>
              <a:buAutoNum type="arabicPeriod" startAt="1"/>
            </a:pPr>
            <a:r>
              <a:rPr lang="en-US" sz="6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Traditional Portfolio</a:t>
            </a:r>
          </a:p>
          <a:p>
            <a:pPr algn="l" marL="1353894" indent="-676947" lvl="1">
              <a:lnSpc>
                <a:spcPts val="8152"/>
              </a:lnSpc>
              <a:buAutoNum type="arabicPeriod" startAt="1"/>
            </a:pPr>
            <a:r>
              <a:rPr lang="en-US" sz="6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  <a:p>
            <a:pPr algn="l" marL="1353894" indent="-676947" lvl="1">
              <a:lnSpc>
                <a:spcPts val="8152"/>
              </a:lnSpc>
              <a:buAutoNum type="arabicPeriod" startAt="1"/>
            </a:pPr>
            <a:r>
              <a:rPr lang="en-US" sz="627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</a:p>
          <a:p>
            <a:pPr algn="l">
              <a:lnSpc>
                <a:spcPts val="8152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8767760"/>
            <a:ext cx="4726694" cy="490540"/>
            <a:chOff x="0" y="0"/>
            <a:chExt cx="3915949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5504136" y="-4573010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42476" y="868277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108621" y="2789103"/>
            <a:ext cx="7309249" cy="5335752"/>
          </a:xfrm>
          <a:custGeom>
            <a:avLst/>
            <a:gdLst/>
            <a:ahLst/>
            <a:cxnLst/>
            <a:rect r="r" b="b" t="t" l="l"/>
            <a:pathLst>
              <a:path h="5335752" w="7309249">
                <a:moveTo>
                  <a:pt x="0" y="0"/>
                </a:moveTo>
                <a:lnTo>
                  <a:pt x="7309249" y="0"/>
                </a:lnTo>
                <a:lnTo>
                  <a:pt x="7309249" y="5335752"/>
                </a:lnTo>
                <a:lnTo>
                  <a:pt x="0" y="53357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59737">
            <a:off x="3121357" y="4914121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39008" y="7391920"/>
            <a:ext cx="2220593" cy="4507614"/>
          </a:xfrm>
          <a:custGeom>
            <a:avLst/>
            <a:gdLst/>
            <a:ahLst/>
            <a:cxnLst/>
            <a:rect r="r" b="b" t="t" l="l"/>
            <a:pathLst>
              <a:path h="4507614" w="2220593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-279147" y="-1633942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79818" y="1171575"/>
            <a:ext cx="6179482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ACTIVITY 2: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70083" y="2079273"/>
            <a:ext cx="13689217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BUIL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D MY MINI ePORTFOLIO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5025" y="3012984"/>
            <a:ext cx="15734275" cy="591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8"/>
              </a:lnSpc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Objective:</a:t>
            </a:r>
          </a:p>
          <a:p>
            <a:pPr algn="l">
              <a:lnSpc>
                <a:spcPts val="5238"/>
              </a:lnSpc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Apply you</a:t>
            </a: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 underst</a:t>
            </a: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anding of</a:t>
            </a: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</a:t>
            </a: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ePortfolio</a:t>
            </a: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by organizing selected learning evidence digitally.</a:t>
            </a:r>
          </a:p>
          <a:p>
            <a:pPr algn="l">
              <a:lnSpc>
                <a:spcPts val="5238"/>
              </a:lnSpc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You</a:t>
            </a: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may use:</a:t>
            </a:r>
          </a:p>
          <a:p>
            <a:pPr algn="l" marL="870047" indent="-435024" lvl="1">
              <a:lnSpc>
                <a:spcPts val="5238"/>
              </a:lnSpc>
              <a:buFont typeface="Arial"/>
              <a:buChar char="•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PowerPoint</a:t>
            </a:r>
          </a:p>
          <a:p>
            <a:pPr algn="l" marL="870047" indent="-435024" lvl="1">
              <a:lnSpc>
                <a:spcPts val="5238"/>
              </a:lnSpc>
              <a:buFont typeface="Arial"/>
              <a:buChar char="•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Canva</a:t>
            </a:r>
          </a:p>
          <a:p>
            <a:pPr algn="l" marL="870047" indent="-435024" lvl="1">
              <a:lnSpc>
                <a:spcPts val="5238"/>
              </a:lnSpc>
              <a:buFont typeface="Arial"/>
              <a:buChar char="•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Google Slides</a:t>
            </a:r>
          </a:p>
          <a:p>
            <a:pPr algn="l" marL="870047" indent="-435024" lvl="1">
              <a:lnSpc>
                <a:spcPts val="5238"/>
              </a:lnSpc>
              <a:buFont typeface="Arial"/>
              <a:buChar char="•"/>
            </a:pPr>
            <a:r>
              <a:rPr lang="en-US" sz="402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Another available digital platform</a:t>
            </a:r>
          </a:p>
          <a:p>
            <a:pPr algn="l">
              <a:lnSpc>
                <a:spcPts val="5238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8767760"/>
            <a:ext cx="4726694" cy="490540"/>
            <a:chOff x="0" y="0"/>
            <a:chExt cx="391594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5504136" y="-4573010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42476" y="868277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59737">
            <a:off x="3121357" y="4914121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39008" y="7391920"/>
            <a:ext cx="2220593" cy="4507614"/>
          </a:xfrm>
          <a:custGeom>
            <a:avLst/>
            <a:gdLst/>
            <a:ahLst/>
            <a:cxnLst/>
            <a:rect r="r" b="b" t="t" l="l"/>
            <a:pathLst>
              <a:path h="4507614" w="2220593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-279147" y="-1633942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79818" y="1171575"/>
            <a:ext cx="6179482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ACTIVITY 2: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70083" y="2079273"/>
            <a:ext cx="13689217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BUIL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D MY MINI ePORTFOLIO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8295" y="3184512"/>
            <a:ext cx="6491739" cy="504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PAGE 1 — PROFILE</a:t>
            </a:r>
          </a:p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Include: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Name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our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se/Year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Short Introduction</a:t>
            </a:r>
          </a:p>
          <a:p>
            <a:pPr algn="l">
              <a:lnSpc>
                <a:spcPts val="670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8767760"/>
            <a:ext cx="4726694" cy="490540"/>
            <a:chOff x="0" y="0"/>
            <a:chExt cx="391594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5504136" y="-4573010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42476" y="868277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314190" y="3184512"/>
            <a:ext cx="6491739" cy="41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PAGE 2 — LEARNING GOALS</a:t>
            </a:r>
          </a:p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Answer:</a:t>
            </a:r>
          </a:p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What do y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ou w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ant to learn or improve?</a:t>
            </a:r>
          </a:p>
          <a:p>
            <a:pPr algn="l">
              <a:lnSpc>
                <a:spcPts val="6709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59737">
            <a:off x="3121357" y="4914121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39008" y="7391920"/>
            <a:ext cx="2220593" cy="4507614"/>
          </a:xfrm>
          <a:custGeom>
            <a:avLst/>
            <a:gdLst/>
            <a:ahLst/>
            <a:cxnLst/>
            <a:rect r="r" b="b" t="t" l="l"/>
            <a:pathLst>
              <a:path h="4507614" w="2220593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-279147" y="-1633942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79818" y="1171575"/>
            <a:ext cx="6179482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ACTIVITY 2: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70083" y="2079273"/>
            <a:ext cx="13689217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BUIL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D MY MINI ePORTFOLIO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8295" y="3184512"/>
            <a:ext cx="6491739" cy="588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PAGE 3 — MY BEST OUTPUT</a:t>
            </a:r>
          </a:p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Include: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Title of output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Pict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ur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 or copy of the work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Short description</a:t>
            </a:r>
          </a:p>
          <a:p>
            <a:pPr algn="l">
              <a:lnSpc>
                <a:spcPts val="670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8767760"/>
            <a:ext cx="4726694" cy="490540"/>
            <a:chOff x="0" y="0"/>
            <a:chExt cx="391594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5504136" y="-4573010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42476" y="868277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314190" y="3184512"/>
            <a:ext cx="6491739" cy="5882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PAGE 4 — MY ACHIEVEMENT</a:t>
            </a:r>
          </a:p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Include: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Certificate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Award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Project</a:t>
            </a:r>
          </a:p>
          <a:p>
            <a:pPr algn="l" marL="1114233" indent="-557117" lvl="1">
              <a:lnSpc>
                <a:spcPts val="6709"/>
              </a:lnSpc>
              <a:buFont typeface="Arial"/>
              <a:buChar char="•"/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Accomplishment</a:t>
            </a:r>
          </a:p>
          <a:p>
            <a:pPr algn="l">
              <a:lnSpc>
                <a:spcPts val="6709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59737">
            <a:off x="3121357" y="4914121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5400000">
            <a:off x="16439008" y="7391920"/>
            <a:ext cx="2220593" cy="4507614"/>
          </a:xfrm>
          <a:custGeom>
            <a:avLst/>
            <a:gdLst/>
            <a:ahLst/>
            <a:cxnLst/>
            <a:rect r="r" b="b" t="t" l="l"/>
            <a:pathLst>
              <a:path h="4507614" w="2220593">
                <a:moveTo>
                  <a:pt x="2220592" y="0"/>
                </a:moveTo>
                <a:lnTo>
                  <a:pt x="0" y="0"/>
                </a:lnTo>
                <a:lnTo>
                  <a:pt x="0" y="4507613"/>
                </a:lnTo>
                <a:lnTo>
                  <a:pt x="2220592" y="4507613"/>
                </a:lnTo>
                <a:lnTo>
                  <a:pt x="222059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-279147" y="-1633942"/>
            <a:ext cx="2490075" cy="5054639"/>
          </a:xfrm>
          <a:custGeom>
            <a:avLst/>
            <a:gdLst/>
            <a:ahLst/>
            <a:cxnLst/>
            <a:rect r="r" b="b" t="t" l="l"/>
            <a:pathLst>
              <a:path h="5054639" w="2490075">
                <a:moveTo>
                  <a:pt x="0" y="5054639"/>
                </a:moveTo>
                <a:lnTo>
                  <a:pt x="2490075" y="5054639"/>
                </a:lnTo>
                <a:lnTo>
                  <a:pt x="2490075" y="0"/>
                </a:lnTo>
                <a:lnTo>
                  <a:pt x="0" y="0"/>
                </a:lnTo>
                <a:lnTo>
                  <a:pt x="0" y="5054639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079818" y="1171575"/>
            <a:ext cx="6179482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ACTIVITY 2: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70083" y="2079273"/>
            <a:ext cx="13689217" cy="91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89"/>
              </a:lnSpc>
            </a:pP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BUIL</a:t>
            </a:r>
            <a:r>
              <a:rPr lang="en-US" sz="6999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D MY MINI ePORTFOLIO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8295" y="3184512"/>
            <a:ext cx="15795433" cy="419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PAGE 5 — MY REFLECTION</a:t>
            </a:r>
          </a:p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Answer:</a:t>
            </a:r>
          </a:p>
          <a:p>
            <a:pPr algn="l">
              <a:lnSpc>
                <a:spcPts val="6709"/>
              </a:lnSpc>
            </a:pP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“What did I learn from the outputs I 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incl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ud</a:t>
            </a:r>
            <a:r>
              <a:rPr lang="en-US" sz="516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ed in my ePortfolio, and how have I improved?”</a:t>
            </a:r>
          </a:p>
          <a:p>
            <a:pPr algn="l">
              <a:lnSpc>
                <a:spcPts val="670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8767760"/>
            <a:ext cx="4726694" cy="490540"/>
            <a:chOff x="0" y="0"/>
            <a:chExt cx="3915949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15949" cy="406400"/>
            </a:xfrm>
            <a:custGeom>
              <a:avLst/>
              <a:gdLst/>
              <a:ahLst/>
              <a:cxnLst/>
              <a:rect r="r" b="b" t="t" l="l"/>
              <a:pathLst>
                <a:path h="406400" w="3915949">
                  <a:moveTo>
                    <a:pt x="3712749" y="0"/>
                  </a:moveTo>
                  <a:cubicBezTo>
                    <a:pt x="3824973" y="0"/>
                    <a:pt x="3915949" y="90976"/>
                    <a:pt x="3915949" y="203200"/>
                  </a:cubicBezTo>
                  <a:cubicBezTo>
                    <a:pt x="3915949" y="315424"/>
                    <a:pt x="3824973" y="406400"/>
                    <a:pt x="371274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1594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10800000">
            <a:off x="5504136" y="-4573010"/>
            <a:ext cx="6058172" cy="6069207"/>
          </a:xfrm>
          <a:custGeom>
            <a:avLst/>
            <a:gdLst/>
            <a:ahLst/>
            <a:cxnLst/>
            <a:rect r="r" b="b" t="t" l="l"/>
            <a:pathLst>
              <a:path h="6069207" w="6058172">
                <a:moveTo>
                  <a:pt x="0" y="0"/>
                </a:moveTo>
                <a:lnTo>
                  <a:pt x="6058172" y="0"/>
                </a:lnTo>
                <a:lnTo>
                  <a:pt x="6058172" y="6069206"/>
                </a:lnTo>
                <a:lnTo>
                  <a:pt x="0" y="60692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42476" y="8682777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21086"/>
            <a:ext cx="7905392" cy="119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2"/>
              </a:lnSpc>
            </a:pPr>
            <a:r>
              <a:rPr lang="en-US" sz="9125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PRESENTATION OF 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804445"/>
            <a:ext cx="9409434" cy="1193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2"/>
              </a:lnSpc>
            </a:pPr>
            <a:r>
              <a:rPr lang="en-US" sz="9125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OUTPUT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9874" y="3075154"/>
            <a:ext cx="17855740" cy="58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82"/>
              </a:lnSpc>
            </a:pPr>
            <a:r>
              <a:rPr lang="en-US" sz="4448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Sel</a:t>
            </a:r>
            <a:r>
              <a:rPr lang="en-US" sz="4448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ected learners will present their Mini ePortfolio.</a:t>
            </a:r>
          </a:p>
          <a:p>
            <a:pPr algn="l">
              <a:lnSpc>
                <a:spcPts val="5782"/>
              </a:lnSpc>
            </a:pPr>
          </a:p>
          <a:p>
            <a:pPr algn="l">
              <a:lnSpc>
                <a:spcPts val="5782"/>
              </a:lnSpc>
            </a:pPr>
            <a:r>
              <a:rPr lang="en-US" sz="4448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During the presentation, explain:</a:t>
            </a:r>
          </a:p>
          <a:p>
            <a:pPr algn="l" marL="960406" indent="-480203" lvl="1">
              <a:lnSpc>
                <a:spcPts val="5782"/>
              </a:lnSpc>
              <a:buFont typeface="Arial"/>
              <a:buChar char="•"/>
            </a:pPr>
            <a:r>
              <a:rPr lang="en-US" sz="4448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Why you selected your outputs</a:t>
            </a:r>
          </a:p>
          <a:p>
            <a:pPr algn="l" marL="960406" indent="-480203" lvl="1">
              <a:lnSpc>
                <a:spcPts val="5782"/>
              </a:lnSpc>
              <a:buFont typeface="Arial"/>
              <a:buChar char="•"/>
            </a:pPr>
            <a:r>
              <a:rPr lang="en-US" sz="4448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What your outputs show about your learning progress</a:t>
            </a:r>
          </a:p>
          <a:p>
            <a:pPr algn="l" marL="960406" indent="-480203" lvl="1">
              <a:lnSpc>
                <a:spcPts val="5782"/>
              </a:lnSpc>
              <a:buFont typeface="Arial"/>
              <a:buChar char="•"/>
            </a:pPr>
            <a:r>
              <a:rPr lang="en-US" sz="4448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What you learned from your experiences</a:t>
            </a:r>
          </a:p>
          <a:p>
            <a:pPr algn="l">
              <a:lnSpc>
                <a:spcPts val="5782"/>
              </a:lnSpc>
            </a:pPr>
          </a:p>
          <a:p>
            <a:pPr algn="l">
              <a:lnSpc>
                <a:spcPts val="5782"/>
              </a:lnSpc>
            </a:pPr>
            <a:r>
              <a:rPr lang="en-US" sz="4448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Other learners will listen and provide constructive feedback.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439" y="1247775"/>
            <a:ext cx="10953363" cy="139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4"/>
              </a:lnSpc>
            </a:pPr>
            <a:r>
              <a:rPr lang="en-US" sz="10623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 GENERALIZATION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09603" y="2565500"/>
            <a:ext cx="14870360" cy="6692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46"/>
              </a:lnSpc>
            </a:pPr>
            <a:r>
              <a:rPr lang="en-US" sz="511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Wha</a:t>
            </a:r>
            <a:r>
              <a:rPr lang="en-US" sz="511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 is an ePortfolio?</a:t>
            </a:r>
          </a:p>
          <a:p>
            <a:pPr algn="l">
              <a:lnSpc>
                <a:spcPts val="6646"/>
              </a:lnSpc>
            </a:pPr>
            <a:r>
              <a:rPr lang="en-US" sz="511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 digital collection of learning outputs, achievements, experiences, and reflections.</a:t>
            </a:r>
          </a:p>
          <a:p>
            <a:pPr algn="l">
              <a:lnSpc>
                <a:spcPts val="6646"/>
              </a:lnSpc>
            </a:pPr>
          </a:p>
          <a:p>
            <a:pPr algn="l">
              <a:lnSpc>
                <a:spcPts val="6646"/>
              </a:lnSpc>
            </a:pPr>
            <a:r>
              <a:rPr lang="en-US" sz="511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What is its purpose?</a:t>
            </a:r>
          </a:p>
          <a:p>
            <a:pPr algn="l">
              <a:lnSpc>
                <a:spcPts val="6646"/>
              </a:lnSpc>
            </a:pPr>
            <a:r>
              <a:rPr lang="en-US" sz="511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It documents learning, shows progress, provides evidence, and encourages reflection.</a:t>
            </a:r>
          </a:p>
          <a:p>
            <a:pPr algn="l">
              <a:lnSpc>
                <a:spcPts val="6646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439" y="1247775"/>
            <a:ext cx="10953363" cy="139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4"/>
              </a:lnSpc>
            </a:pPr>
            <a:r>
              <a:rPr lang="en-US" sz="10623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 GENERALIZATION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0092" y="2893701"/>
            <a:ext cx="7113908" cy="5818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1"/>
              </a:lnSpc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Wha</a:t>
            </a: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 can be included in an ePortfolio?</a:t>
            </a:r>
          </a:p>
          <a:p>
            <a:pPr algn="l" marL="852257" indent="-426129" lvl="1">
              <a:lnSpc>
                <a:spcPts val="5131"/>
              </a:lnSpc>
              <a:buFont typeface="Arial"/>
              <a:buChar char="•"/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Projects</a:t>
            </a:r>
          </a:p>
          <a:p>
            <a:pPr algn="l" marL="852257" indent="-426129" lvl="1">
              <a:lnSpc>
                <a:spcPts val="5131"/>
              </a:lnSpc>
              <a:buFont typeface="Arial"/>
              <a:buChar char="•"/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Assignments</a:t>
            </a:r>
          </a:p>
          <a:p>
            <a:pPr algn="l" marL="852257" indent="-426129" lvl="1">
              <a:lnSpc>
                <a:spcPts val="5131"/>
              </a:lnSpc>
              <a:buFont typeface="Arial"/>
              <a:buChar char="•"/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Pictures</a:t>
            </a:r>
          </a:p>
          <a:p>
            <a:pPr algn="l" marL="852257" indent="-426129" lvl="1">
              <a:lnSpc>
                <a:spcPts val="5131"/>
              </a:lnSpc>
              <a:buFont typeface="Arial"/>
              <a:buChar char="•"/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Videos</a:t>
            </a:r>
          </a:p>
          <a:p>
            <a:pPr algn="l" marL="852257" indent="-426129" lvl="1">
              <a:lnSpc>
                <a:spcPts val="5131"/>
              </a:lnSpc>
              <a:buFont typeface="Arial"/>
              <a:buChar char="•"/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Certificates</a:t>
            </a:r>
          </a:p>
          <a:p>
            <a:pPr algn="l" marL="852257" indent="-426129" lvl="1">
              <a:lnSpc>
                <a:spcPts val="5131"/>
              </a:lnSpc>
              <a:buFont typeface="Arial"/>
              <a:buChar char="•"/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Presentations</a:t>
            </a:r>
          </a:p>
          <a:p>
            <a:pPr algn="l" marL="852257" indent="-426129" lvl="1">
              <a:lnSpc>
                <a:spcPts val="5131"/>
              </a:lnSpc>
              <a:buFont typeface="Arial"/>
              <a:buChar char="•"/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Feedback</a:t>
            </a:r>
          </a:p>
          <a:p>
            <a:pPr algn="l" marL="852257" indent="-426129" lvl="1">
              <a:lnSpc>
                <a:spcPts val="5131"/>
              </a:lnSpc>
              <a:buFont typeface="Arial"/>
              <a:buChar char="•"/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Reflections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91704" y="2893701"/>
            <a:ext cx="7113908" cy="4524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1"/>
              </a:lnSpc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How</a:t>
            </a: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can teachers use an ePortfolio for assessment?</a:t>
            </a:r>
          </a:p>
          <a:p>
            <a:pPr algn="l">
              <a:lnSpc>
                <a:spcPts val="5131"/>
              </a:lnSpc>
            </a:pPr>
          </a:p>
          <a:p>
            <a:pPr algn="l">
              <a:lnSpc>
                <a:spcPts val="5131"/>
              </a:lnSpc>
            </a:pP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Tea</a:t>
            </a:r>
            <a:r>
              <a:rPr lang="en-US" sz="3947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chers can evaluate the learner’s outputs, progress, skills, and reflections.</a:t>
            </a:r>
          </a:p>
          <a:p>
            <a:pPr algn="l">
              <a:lnSpc>
                <a:spcPts val="5131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439" y="1247775"/>
            <a:ext cx="14092414" cy="139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4"/>
              </a:lnSpc>
            </a:pPr>
            <a:r>
              <a:rPr lang="en-US" sz="10623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CHECK YOUR UNDERSTANDING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0092" y="2855601"/>
            <a:ext cx="12650023" cy="574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25"/>
              </a:lnSpc>
            </a:pPr>
            <a:r>
              <a:rPr lang="en-US" sz="70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1. Wha</a:t>
            </a:r>
            <a:r>
              <a:rPr lang="en-US" sz="70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t does ePortfolio mean?</a:t>
            </a:r>
          </a:p>
          <a:p>
            <a:pPr algn="l">
              <a:lnSpc>
                <a:spcPts val="9125"/>
              </a:lnSpc>
            </a:pPr>
            <a:r>
              <a:rPr lang="en-US" sz="70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A. Electronic examination</a:t>
            </a:r>
          </a:p>
          <a:p>
            <a:pPr algn="l">
              <a:lnSpc>
                <a:spcPts val="9125"/>
              </a:lnSpc>
            </a:pPr>
            <a:r>
              <a:rPr lang="en-US" sz="70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B. Ele</a:t>
            </a:r>
            <a:r>
              <a:rPr lang="en-US" sz="70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ctronic portfolio</a:t>
            </a:r>
          </a:p>
          <a:p>
            <a:pPr algn="l">
              <a:lnSpc>
                <a:spcPts val="9125"/>
              </a:lnSpc>
            </a:pPr>
            <a:r>
              <a:rPr lang="en-US" sz="70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C. Educational program</a:t>
            </a:r>
          </a:p>
          <a:p>
            <a:pPr algn="l">
              <a:lnSpc>
                <a:spcPts val="9125"/>
              </a:lnSpc>
            </a:pPr>
            <a:r>
              <a:rPr lang="en-US" sz="7019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D. Electronic presentation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439" y="1247775"/>
            <a:ext cx="14092414" cy="139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4"/>
              </a:lnSpc>
            </a:pPr>
            <a:r>
              <a:rPr lang="en-US" sz="10623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CHECK YOUR UNDERSTANDING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0092" y="2874651"/>
            <a:ext cx="14027703" cy="604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2. Which is an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example of an ePortfolio material?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A. Digital project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B. S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chool uniform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C. Classroom chair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D. School building</a:t>
            </a:r>
          </a:p>
          <a:p>
            <a:pPr algn="l">
              <a:lnSpc>
                <a:spcPts val="801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439" y="1247775"/>
            <a:ext cx="14092414" cy="139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4"/>
              </a:lnSpc>
            </a:pPr>
            <a:r>
              <a:rPr lang="en-US" sz="10623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CHECK YOUR UNDERSTANDING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0092" y="2874651"/>
            <a:ext cx="14027703" cy="7055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3. Which component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allows learners to discuss what they learned from an activity?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A. Profile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B. Ref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lection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C. Title page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D. Attendance</a:t>
            </a:r>
          </a:p>
          <a:p>
            <a:pPr algn="l">
              <a:lnSpc>
                <a:spcPts val="801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439" y="1247775"/>
            <a:ext cx="14092414" cy="139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4"/>
              </a:lnSpc>
            </a:pPr>
            <a:r>
              <a:rPr lang="en-US" sz="10623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CHECK YOUR UNDERSTANDING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0092" y="2874651"/>
            <a:ext cx="14027703" cy="7055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4. Which is an important purpose of an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ePortfolio?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A. To hide learning outputs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B. To document learning progress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C. To replace all classroom activities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D. To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e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liminate assessment</a:t>
            </a:r>
          </a:p>
          <a:p>
            <a:pPr algn="l">
              <a:lnSpc>
                <a:spcPts val="801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439" y="1247775"/>
            <a:ext cx="14092414" cy="139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4"/>
              </a:lnSpc>
            </a:pPr>
            <a:r>
              <a:rPr lang="en-US" sz="10623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CHECK YOUR UNDERSTANDING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0092" y="2874651"/>
            <a:ext cx="14027703" cy="6046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5. Which is an advantage of an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ePortfolio?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A. It prevents reflection.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B. It makes learning outputs difficult to access.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C. It can show a learner’s progress over time.</a:t>
            </a:r>
          </a:p>
          <a:p>
            <a:pPr algn="l">
              <a:lnSpc>
                <a:spcPts val="8011"/>
              </a:lnSpc>
            </a:pP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D. It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 e</a:t>
            </a:r>
            <a:r>
              <a:rPr lang="en-US" sz="6162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liminates the need for learning activities.</a:t>
            </a:r>
          </a:p>
          <a:p>
            <a:pPr algn="l">
              <a:lnSpc>
                <a:spcPts val="801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7439" y="1247775"/>
            <a:ext cx="14092414" cy="1392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4"/>
              </a:lnSpc>
            </a:pPr>
            <a:r>
              <a:rPr lang="en-US" sz="10623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ePORTFOLIO RUBRIC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1203730" y="2640049"/>
          <a:ext cx="9429750" cy="4400550"/>
        </p:xfrm>
        <a:graphic>
          <a:graphicData uri="http://schemas.openxmlformats.org/presentationml/2006/ole">
            <p:oleObj imgW="11315700" imgH="62865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1344591">
            <a:off x="-4148183" y="500207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20299770" y="0"/>
                </a:moveTo>
                <a:lnTo>
                  <a:pt x="0" y="0"/>
                </a:lnTo>
                <a:lnTo>
                  <a:pt x="0" y="6754287"/>
                </a:lnTo>
                <a:lnTo>
                  <a:pt x="20299770" y="6754287"/>
                </a:lnTo>
                <a:lnTo>
                  <a:pt x="2029977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40504" y="3441576"/>
            <a:ext cx="19369008" cy="3708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62"/>
              </a:lnSpc>
            </a:pPr>
            <a:r>
              <a:rPr lang="en-US" sz="14600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Questions or Clarifications?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31506" y="2115465"/>
            <a:ext cx="1248533" cy="2534416"/>
          </a:xfrm>
          <a:custGeom>
            <a:avLst/>
            <a:gdLst/>
            <a:ahLst/>
            <a:cxnLst/>
            <a:rect r="r" b="b" t="t" l="l"/>
            <a:pathLst>
              <a:path h="2534416" w="1248533">
                <a:moveTo>
                  <a:pt x="0" y="0"/>
                </a:moveTo>
                <a:lnTo>
                  <a:pt x="1248533" y="0"/>
                </a:lnTo>
                <a:lnTo>
                  <a:pt x="1248533" y="2534416"/>
                </a:lnTo>
                <a:lnTo>
                  <a:pt x="0" y="25344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9356748" y="8168662"/>
            <a:ext cx="1639686" cy="3328423"/>
          </a:xfrm>
          <a:custGeom>
            <a:avLst/>
            <a:gdLst/>
            <a:ahLst/>
            <a:cxnLst/>
            <a:rect r="r" b="b" t="t" l="l"/>
            <a:pathLst>
              <a:path h="3328423" w="1639686">
                <a:moveTo>
                  <a:pt x="0" y="0"/>
                </a:moveTo>
                <a:lnTo>
                  <a:pt x="1639686" y="0"/>
                </a:lnTo>
                <a:lnTo>
                  <a:pt x="1639686" y="3328423"/>
                </a:lnTo>
                <a:lnTo>
                  <a:pt x="0" y="3328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75364">
            <a:off x="9267610" y="-6454114"/>
            <a:ext cx="8862696" cy="8878839"/>
          </a:xfrm>
          <a:custGeom>
            <a:avLst/>
            <a:gdLst/>
            <a:ahLst/>
            <a:cxnLst/>
            <a:rect r="r" b="b" t="t" l="l"/>
            <a:pathLst>
              <a:path h="8878839" w="8862696">
                <a:moveTo>
                  <a:pt x="0" y="0"/>
                </a:moveTo>
                <a:lnTo>
                  <a:pt x="8862696" y="0"/>
                </a:lnTo>
                <a:lnTo>
                  <a:pt x="8862696" y="8878839"/>
                </a:lnTo>
                <a:lnTo>
                  <a:pt x="0" y="88788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7744" y="2115465"/>
            <a:ext cx="1971810" cy="240202"/>
          </a:xfrm>
          <a:custGeom>
            <a:avLst/>
            <a:gdLst/>
            <a:ahLst/>
            <a:cxnLst/>
            <a:rect r="r" b="b" t="t" l="l"/>
            <a:pathLst>
              <a:path h="240202" w="1971810">
                <a:moveTo>
                  <a:pt x="0" y="0"/>
                </a:moveTo>
                <a:lnTo>
                  <a:pt x="1971810" y="0"/>
                </a:lnTo>
                <a:lnTo>
                  <a:pt x="1971810" y="240202"/>
                </a:lnTo>
                <a:lnTo>
                  <a:pt x="0" y="2402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72539" y="9002223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6388" r="-103152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10723">
                <a:alpha val="100000"/>
              </a:srgbClr>
            </a:gs>
            <a:gs pos="100000">
              <a:srgbClr val="2D135E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26617">
            <a:off x="3395976" y="3190853"/>
            <a:ext cx="20299771" cy="6754287"/>
          </a:xfrm>
          <a:custGeom>
            <a:avLst/>
            <a:gdLst/>
            <a:ahLst/>
            <a:cxnLst/>
            <a:rect r="r" b="b" t="t" l="l"/>
            <a:pathLst>
              <a:path h="6754287" w="20299771">
                <a:moveTo>
                  <a:pt x="0" y="0"/>
                </a:moveTo>
                <a:lnTo>
                  <a:pt x="20299771" y="0"/>
                </a:lnTo>
                <a:lnTo>
                  <a:pt x="20299771" y="6754287"/>
                </a:lnTo>
                <a:lnTo>
                  <a:pt x="0" y="67542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41392" y="587451"/>
            <a:ext cx="9122342" cy="9105756"/>
          </a:xfrm>
          <a:custGeom>
            <a:avLst/>
            <a:gdLst/>
            <a:ahLst/>
            <a:cxnLst/>
            <a:rect r="r" b="b" t="t" l="l"/>
            <a:pathLst>
              <a:path h="9105756" w="9122342">
                <a:moveTo>
                  <a:pt x="0" y="0"/>
                </a:moveTo>
                <a:lnTo>
                  <a:pt x="9122342" y="0"/>
                </a:lnTo>
                <a:lnTo>
                  <a:pt x="9122342" y="9105756"/>
                </a:lnTo>
                <a:lnTo>
                  <a:pt x="0" y="9105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57946">
            <a:off x="10971715" y="1704128"/>
            <a:ext cx="7674174" cy="2885362"/>
          </a:xfrm>
          <a:custGeom>
            <a:avLst/>
            <a:gdLst/>
            <a:ahLst/>
            <a:cxnLst/>
            <a:rect r="r" b="b" t="t" l="l"/>
            <a:pathLst>
              <a:path h="2885362" w="7674174">
                <a:moveTo>
                  <a:pt x="0" y="0"/>
                </a:moveTo>
                <a:lnTo>
                  <a:pt x="7674174" y="0"/>
                </a:lnTo>
                <a:lnTo>
                  <a:pt x="7674174" y="2885362"/>
                </a:lnTo>
                <a:lnTo>
                  <a:pt x="0" y="288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-3298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2157946">
            <a:off x="8438712" y="4719029"/>
            <a:ext cx="7674174" cy="3837087"/>
          </a:xfrm>
          <a:custGeom>
            <a:avLst/>
            <a:gdLst/>
            <a:ahLst/>
            <a:cxnLst/>
            <a:rect r="r" b="b" t="t" l="l"/>
            <a:pathLst>
              <a:path h="3837087" w="7674174">
                <a:moveTo>
                  <a:pt x="0" y="3837087"/>
                </a:moveTo>
                <a:lnTo>
                  <a:pt x="7674174" y="3837087"/>
                </a:lnTo>
                <a:lnTo>
                  <a:pt x="7674174" y="0"/>
                </a:lnTo>
                <a:lnTo>
                  <a:pt x="0" y="0"/>
                </a:lnTo>
                <a:lnTo>
                  <a:pt x="0" y="38370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975622" y="1713388"/>
            <a:ext cx="6853883" cy="685388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76794" y="1914560"/>
            <a:ext cx="6451538" cy="645153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0032" t="0" r="-3983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-458594" y="5993565"/>
            <a:ext cx="1519526" cy="3084508"/>
          </a:xfrm>
          <a:custGeom>
            <a:avLst/>
            <a:gdLst/>
            <a:ahLst/>
            <a:cxnLst/>
            <a:rect r="r" b="b" t="t" l="l"/>
            <a:pathLst>
              <a:path h="3084508" w="1519526">
                <a:moveTo>
                  <a:pt x="0" y="0"/>
                </a:moveTo>
                <a:lnTo>
                  <a:pt x="1519526" y="0"/>
                </a:lnTo>
                <a:lnTo>
                  <a:pt x="1519526" y="3084508"/>
                </a:lnTo>
                <a:lnTo>
                  <a:pt x="0" y="3084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6818832" y="0"/>
            <a:ext cx="2071591" cy="4205152"/>
          </a:xfrm>
          <a:custGeom>
            <a:avLst/>
            <a:gdLst/>
            <a:ahLst/>
            <a:cxnLst/>
            <a:rect r="r" b="b" t="t" l="l"/>
            <a:pathLst>
              <a:path h="4205152" w="2071591">
                <a:moveTo>
                  <a:pt x="2071591" y="0"/>
                </a:moveTo>
                <a:lnTo>
                  <a:pt x="0" y="0"/>
                </a:lnTo>
                <a:lnTo>
                  <a:pt x="0" y="4205152"/>
                </a:lnTo>
                <a:lnTo>
                  <a:pt x="2071591" y="4205152"/>
                </a:lnTo>
                <a:lnTo>
                  <a:pt x="2071591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60932" y="8585592"/>
            <a:ext cx="672708" cy="672708"/>
          </a:xfrm>
          <a:custGeom>
            <a:avLst/>
            <a:gdLst/>
            <a:ahLst/>
            <a:cxnLst/>
            <a:rect r="r" b="b" t="t" l="l"/>
            <a:pathLst>
              <a:path h="672708" w="672708">
                <a:moveTo>
                  <a:pt x="0" y="0"/>
                </a:moveTo>
                <a:lnTo>
                  <a:pt x="672709" y="0"/>
                </a:lnTo>
                <a:lnTo>
                  <a:pt x="672709" y="672708"/>
                </a:lnTo>
                <a:lnTo>
                  <a:pt x="0" y="6727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81992" y="-3498726"/>
            <a:ext cx="4793807" cy="4802539"/>
          </a:xfrm>
          <a:custGeom>
            <a:avLst/>
            <a:gdLst/>
            <a:ahLst/>
            <a:cxnLst/>
            <a:rect r="r" b="b" t="t" l="l"/>
            <a:pathLst>
              <a:path h="4802539" w="4793807">
                <a:moveTo>
                  <a:pt x="0" y="0"/>
                </a:moveTo>
                <a:lnTo>
                  <a:pt x="4793807" y="0"/>
                </a:lnTo>
                <a:lnTo>
                  <a:pt x="4793807" y="4802539"/>
                </a:lnTo>
                <a:lnTo>
                  <a:pt x="0" y="48025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08917" y="8366098"/>
            <a:ext cx="4940090" cy="4949088"/>
          </a:xfrm>
          <a:custGeom>
            <a:avLst/>
            <a:gdLst/>
            <a:ahLst/>
            <a:cxnLst/>
            <a:rect r="r" b="b" t="t" l="l"/>
            <a:pathLst>
              <a:path h="4949088" w="4940090">
                <a:moveTo>
                  <a:pt x="0" y="0"/>
                </a:moveTo>
                <a:lnTo>
                  <a:pt x="4940090" y="0"/>
                </a:lnTo>
                <a:lnTo>
                  <a:pt x="4940090" y="4949088"/>
                </a:lnTo>
                <a:lnTo>
                  <a:pt x="0" y="4949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496449" y="2218183"/>
            <a:ext cx="1647551" cy="200702"/>
          </a:xfrm>
          <a:custGeom>
            <a:avLst/>
            <a:gdLst/>
            <a:ahLst/>
            <a:cxnLst/>
            <a:rect r="r" b="b" t="t" l="l"/>
            <a:pathLst>
              <a:path h="200702" w="1647551">
                <a:moveTo>
                  <a:pt x="0" y="0"/>
                </a:moveTo>
                <a:lnTo>
                  <a:pt x="1647551" y="0"/>
                </a:lnTo>
                <a:lnTo>
                  <a:pt x="1647551" y="200701"/>
                </a:lnTo>
                <a:lnTo>
                  <a:pt x="0" y="2007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10649" y="8082370"/>
            <a:ext cx="666145" cy="660506"/>
          </a:xfrm>
          <a:custGeom>
            <a:avLst/>
            <a:gdLst/>
            <a:ahLst/>
            <a:cxnLst/>
            <a:rect r="r" b="b" t="t" l="l"/>
            <a:pathLst>
              <a:path h="660506" w="666145">
                <a:moveTo>
                  <a:pt x="0" y="0"/>
                </a:moveTo>
                <a:lnTo>
                  <a:pt x="666145" y="0"/>
                </a:lnTo>
                <a:lnTo>
                  <a:pt x="666145" y="660506"/>
                </a:lnTo>
                <a:lnTo>
                  <a:pt x="0" y="6605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06388" r="-103152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4854775" y="5926686"/>
            <a:ext cx="5254433" cy="641311"/>
            <a:chOff x="0" y="0"/>
            <a:chExt cx="3329743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29743" cy="406400"/>
            </a:xfrm>
            <a:custGeom>
              <a:avLst/>
              <a:gdLst/>
              <a:ahLst/>
              <a:cxnLst/>
              <a:rect r="r" b="b" t="t" l="l"/>
              <a:pathLst>
                <a:path h="406400" w="3329743">
                  <a:moveTo>
                    <a:pt x="3126543" y="0"/>
                  </a:moveTo>
                  <a:cubicBezTo>
                    <a:pt x="3238767" y="0"/>
                    <a:pt x="3329743" y="90976"/>
                    <a:pt x="3329743" y="203200"/>
                  </a:cubicBezTo>
                  <a:cubicBezTo>
                    <a:pt x="3329743" y="315424"/>
                    <a:pt x="3238767" y="406400"/>
                    <a:pt x="31265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01D89">
                    <a:alpha val="100000"/>
                  </a:srgbClr>
                </a:gs>
                <a:gs pos="100000">
                  <a:srgbClr val="D2689C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329743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27008" y="1160588"/>
            <a:ext cx="2885638" cy="40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Ing</a:t>
            </a:r>
            <a:r>
              <a:rPr lang="en-US" sz="24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oude Company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27008" y="8695251"/>
            <a:ext cx="4301235" cy="405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www.reallygr</a:t>
            </a:r>
            <a:r>
              <a:rPr lang="en-US" sz="24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eatsite.com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518644"/>
            <a:ext cx="6228661" cy="196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sz="15000">
                <a:solidFill>
                  <a:srgbClr val="A94BC6"/>
                </a:solidFill>
                <a:latin typeface="Bangers"/>
                <a:ea typeface="Bangers"/>
                <a:cs typeface="Bangers"/>
                <a:sym typeface="Bangers"/>
              </a:rPr>
              <a:t>Thank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5162289"/>
            <a:ext cx="3429263" cy="196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sz="15000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You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54214" y="5912111"/>
            <a:ext cx="4455554" cy="594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sz="3454">
                <a:solidFill>
                  <a:srgbClr val="FFFFFF"/>
                </a:solidFill>
                <a:latin typeface="Bangers"/>
                <a:ea typeface="Bangers"/>
                <a:cs typeface="Bangers"/>
                <a:sym typeface="Bangers"/>
              </a:rPr>
              <a:t>For Your Attention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28700" y="1053061"/>
            <a:ext cx="781082" cy="781082"/>
          </a:xfrm>
          <a:custGeom>
            <a:avLst/>
            <a:gdLst/>
            <a:ahLst/>
            <a:cxnLst/>
            <a:rect r="r" b="b" t="t" l="l"/>
            <a:pathLst>
              <a:path h="781082" w="781082">
                <a:moveTo>
                  <a:pt x="0" y="0"/>
                </a:moveTo>
                <a:lnTo>
                  <a:pt x="781082" y="0"/>
                </a:lnTo>
                <a:lnTo>
                  <a:pt x="781082" y="781082"/>
                </a:lnTo>
                <a:lnTo>
                  <a:pt x="0" y="78108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DAHTozC_6rc</dc:identifier>
  <dcterms:modified xsi:type="dcterms:W3CDTF">2011-08-01T06:04:30Z</dcterms:modified>
  <cp:revision>1</cp:revision>
  <dc:title>Navy Pink And Purple Modern Professional Artificial Intelligence Presentation</dc:title>
</cp:coreProperties>
</file>